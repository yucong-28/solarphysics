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ce029c9e32483e" /><Relationship Type="http://schemas.openxmlformats.org/officeDocument/2006/relationships/extended-properties" Target="/docProps/app.xml" Id="R3144bb1e39ae4f7b" /><Relationship Type="http://schemas.openxmlformats.org/officeDocument/2006/relationships/officeDocument" Target="/ppt/presentation.xml" Id="R5addc217b695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d30c476f0043e9"/>
  </p:sldMasterIdLst>
  <p:notesMasterIdLst>
    <p:notesMasterId xmlns:r="http://schemas.openxmlformats.org/officeDocument/2006/relationships" r:id="Rad56aa722e7a4646"/>
  </p:notesMasterIdLst>
  <p:sldIdLst>
    <p:sldId xmlns:r="http://schemas.openxmlformats.org/officeDocument/2006/relationships" id="256" r:id="R87b6c2b50f1f4404"/>
    <p:sldId xmlns:r="http://schemas.openxmlformats.org/officeDocument/2006/relationships" id="257" r:id="R571f4bd5df324039"/>
    <p:sldId xmlns:r="http://schemas.openxmlformats.org/officeDocument/2006/relationships" id="258" r:id="Rb58fd8122a8641ea"/>
    <p:sldId xmlns:r="http://schemas.openxmlformats.org/officeDocument/2006/relationships" id="259" r:id="Rf27b3fcd9ba24c19"/>
    <p:sldId xmlns:r="http://schemas.openxmlformats.org/officeDocument/2006/relationships" id="260" r:id="Rc5ae7b13d06d46d3"/>
    <p:sldId xmlns:r="http://schemas.openxmlformats.org/officeDocument/2006/relationships" id="261" r:id="Raeadeba95ace4d71"/>
    <p:sldId xmlns:r="http://schemas.openxmlformats.org/officeDocument/2006/relationships" id="262" r:id="R9f6f8423b6b9472f"/>
    <p:sldId xmlns:r="http://schemas.openxmlformats.org/officeDocument/2006/relationships" id="263" r:id="R12ab3f274123403c"/>
    <p:sldId xmlns:r="http://schemas.openxmlformats.org/officeDocument/2006/relationships" id="264" r:id="Rb47018044a214dcc"/>
    <p:sldId xmlns:r="http://schemas.openxmlformats.org/officeDocument/2006/relationships" id="265" r:id="Rdef2fb603f1a4059"/>
    <p:sldId xmlns:r="http://schemas.openxmlformats.org/officeDocument/2006/relationships" id="266" r:id="Rd7eb3874796d4c46"/>
    <p:sldId xmlns:r="http://schemas.openxmlformats.org/officeDocument/2006/relationships" id="267" r:id="R65c297adefd340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f202c357284929" /><Relationship Type="http://schemas.openxmlformats.org/officeDocument/2006/relationships/slideMaster" Target="/ppt/slideMasters/slideMaster1.xml" Id="R48d30c476f0043e9" /><Relationship Type="http://schemas.openxmlformats.org/officeDocument/2006/relationships/notesMaster" Target="/ppt/notesMasters/notesMaster1.xml" Id="Rad56aa722e7a4646" /><Relationship Type="http://schemas.openxmlformats.org/officeDocument/2006/relationships/presProps" Target="/ppt/presProps.xml" Id="R2f12665f97314f4c" /><Relationship Type="http://schemas.openxmlformats.org/officeDocument/2006/relationships/tableStyles" Target="/ppt/tableStyles.xml" Id="R560fc8d4a1d14abc" /><Relationship Type="http://schemas.openxmlformats.org/officeDocument/2006/relationships/slide" Target="/ppt/slides/slide1.xml" Id="R87b6c2b50f1f4404" /><Relationship Type="http://schemas.openxmlformats.org/officeDocument/2006/relationships/slide" Target="/ppt/slides/slide2.xml" Id="R571f4bd5df324039" /><Relationship Type="http://schemas.openxmlformats.org/officeDocument/2006/relationships/slide" Target="/ppt/slides/slide3.xml" Id="Rb58fd8122a8641ea" /><Relationship Type="http://schemas.openxmlformats.org/officeDocument/2006/relationships/slide" Target="/ppt/slides/slide4.xml" Id="Rf27b3fcd9ba24c19" /><Relationship Type="http://schemas.openxmlformats.org/officeDocument/2006/relationships/slide" Target="/ppt/slides/slide5.xml" Id="Rc5ae7b13d06d46d3" /><Relationship Type="http://schemas.openxmlformats.org/officeDocument/2006/relationships/slide" Target="/ppt/slides/slide6.xml" Id="Raeadeba95ace4d71" /><Relationship Type="http://schemas.openxmlformats.org/officeDocument/2006/relationships/slide" Target="/ppt/slides/slide7.xml" Id="R9f6f8423b6b9472f" /><Relationship Type="http://schemas.openxmlformats.org/officeDocument/2006/relationships/slide" Target="/ppt/slides/slide8.xml" Id="R12ab3f274123403c" /><Relationship Type="http://schemas.openxmlformats.org/officeDocument/2006/relationships/slide" Target="/ppt/slides/slide9.xml" Id="Rb47018044a214dcc" /><Relationship Type="http://schemas.openxmlformats.org/officeDocument/2006/relationships/slide" Target="/ppt/slides/slide10.xml" Id="Rdef2fb603f1a4059" /><Relationship Type="http://schemas.openxmlformats.org/officeDocument/2006/relationships/slide" Target="/ppt/slides/slide11.xml" Id="Rd7eb3874796d4c46" /><Relationship Type="http://schemas.openxmlformats.org/officeDocument/2006/relationships/slide" Target="/ppt/slides/slide12.xml" Id="R65c297adefd3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7131f2fbb348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84b0244a3d4b16" /><Relationship Type="http://schemas.openxmlformats.org/officeDocument/2006/relationships/notesMaster" Target="/ppt/notesMasters/notesMaster1.xml" Id="Rf8c5cd106e9444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725401c264ce6" /><Relationship Type="http://schemas.openxmlformats.org/officeDocument/2006/relationships/notesMaster" Target="/ppt/notesMasters/notesMaster1.xml" Id="R9f2457db699442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58b04cb50142bd" /><Relationship Type="http://schemas.openxmlformats.org/officeDocument/2006/relationships/notesMaster" Target="/ppt/notesMasters/notesMaster1.xml" Id="R72b5c8d29eb648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d9726c7872472c" /><Relationship Type="http://schemas.openxmlformats.org/officeDocument/2006/relationships/notesMaster" Target="/ppt/notesMasters/notesMaster1.xml" Id="R4f4e1786a8c444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c0bc20e6854dc5" /><Relationship Type="http://schemas.openxmlformats.org/officeDocument/2006/relationships/notesMaster" Target="/ppt/notesMasters/notesMaster1.xml" Id="Rda4abfc6be1e47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87b7c4c887489c" /><Relationship Type="http://schemas.openxmlformats.org/officeDocument/2006/relationships/notesMaster" Target="/ppt/notesMasters/notesMaster1.xml" Id="Re93bf00c9ccf48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38565d508c46ba" /><Relationship Type="http://schemas.openxmlformats.org/officeDocument/2006/relationships/notesMaster" Target="/ppt/notesMasters/notesMaster1.xml" Id="R802871a4f1bb43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45e2ff4c5b45ee" /><Relationship Type="http://schemas.openxmlformats.org/officeDocument/2006/relationships/notesMaster" Target="/ppt/notesMasters/notesMaster1.xml" Id="R5e0e4f68464e49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4dc2542d5b41f7" /><Relationship Type="http://schemas.openxmlformats.org/officeDocument/2006/relationships/notesMaster" Target="/ppt/notesMasters/notesMaster1.xml" Id="Rbd3b2272eb0c45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51f114fd8c460c" /><Relationship Type="http://schemas.openxmlformats.org/officeDocument/2006/relationships/notesMaster" Target="/ppt/notesMasters/notesMaster1.xml" Id="Rbc0834af37e04a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c5e9fab4044633" /><Relationship Type="http://schemas.openxmlformats.org/officeDocument/2006/relationships/notesMaster" Target="/ppt/notesMasters/notesMaster1.xml" Id="R7c8453dff4424c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ad963f982f4819" /><Relationship Type="http://schemas.openxmlformats.org/officeDocument/2006/relationships/notesMaster" Target="/ppt/notesMasters/notesMaster1.xml" Id="R720e7a8de67d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  <a:p xmlns:a="http://schemas.openxmlformats.org/drawingml/2006/main">
            <a:r>
              <a:t>- Chen Yao (2019); Harris (1962); Furth et al. (1963).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  <a:p xmlns:a="http://schemas.openxmlformats.org/drawingml/2006/main">
            <a:r>
              <a:t>- Chen Yao (2019); Harris (1962); Furth et al. (1963).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Athena schema-v3 run: outputs/runs/athena_physical_jet_seed20260726/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eb08c076148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c1452b2dc476e" /><Relationship Type="http://schemas.openxmlformats.org/officeDocument/2006/relationships/slideLayout" Target="/ppt/slideLayouts/slideLayout1.xml" Id="R20511ce4184a4f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11ce4184a4f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798d7fd22444a" /><Relationship Type="http://schemas.openxmlformats.org/officeDocument/2006/relationships/notesSlide" Target="/ppt/notesSlides/notesSlide1.xml" Id="R24c5032ca50c48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a605b879a4412" /><Relationship Type="http://schemas.openxmlformats.org/officeDocument/2006/relationships/image" Target="/ppt/media/image.png" Id="R3de285e9383c4c2e" /><Relationship Type="http://schemas.openxmlformats.org/officeDocument/2006/relationships/notesSlide" Target="/ppt/notesSlides/notesSlide2.xml" Id="R07abb9938a1141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d18ab580148d3" /><Relationship Type="http://schemas.openxmlformats.org/officeDocument/2006/relationships/notesSlide" Target="/ppt/notesSlides/notesSlide3.xml" Id="R2ac1d51eec5246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0a9d6480e4112" /><Relationship Type="http://schemas.openxmlformats.org/officeDocument/2006/relationships/image" Target="/ppt/media/image2.png" Id="Rad429ee4e1334a60" /><Relationship Type="http://schemas.openxmlformats.org/officeDocument/2006/relationships/notesSlide" Target="/ppt/notesSlides/notesSlide4.xml" Id="R668105e97d5249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3c35bddf44c13" /><Relationship Type="http://schemas.openxmlformats.org/officeDocument/2006/relationships/image" Target="/ppt/media/image3.png" Id="Rc28a29cca42b4ecd" /><Relationship Type="http://schemas.openxmlformats.org/officeDocument/2006/relationships/notesSlide" Target="/ppt/notesSlides/notesSlide5.xml" Id="Rb614c7034b8648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c2406bc634bbf" /><Relationship Type="http://schemas.openxmlformats.org/officeDocument/2006/relationships/image" Target="/ppt/media/image4.png" Id="Rdec0a147aa8f47bd" /><Relationship Type="http://schemas.openxmlformats.org/officeDocument/2006/relationships/image" Target="/ppt/media/image5.png" Id="R62a036f3e64e45bb" /><Relationship Type="http://schemas.openxmlformats.org/officeDocument/2006/relationships/notesSlide" Target="/ppt/notesSlides/notesSlide6.xml" Id="R4402b0764ea64e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daecbb42b4920" /><Relationship Type="http://schemas.openxmlformats.org/officeDocument/2006/relationships/image" Target="/ppt/media/image6.png" Id="R9791e8d43db045cd" /><Relationship Type="http://schemas.openxmlformats.org/officeDocument/2006/relationships/notesSlide" Target="/ppt/notesSlides/notesSlide7.xml" Id="Rd72b2fa2021c45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d3f1ae27b4a21" /><Relationship Type="http://schemas.openxmlformats.org/officeDocument/2006/relationships/image" Target="/ppt/media/image7.png" Id="Reab6b4f629e94348" /><Relationship Type="http://schemas.openxmlformats.org/officeDocument/2006/relationships/notesSlide" Target="/ppt/notesSlides/notesSlide8.xml" Id="Re1074e0804414e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dbdca3cd0431b" /><Relationship Type="http://schemas.openxmlformats.org/officeDocument/2006/relationships/image" Target="/ppt/media/image8.png" Id="Rf4b497bf31254e6a" /><Relationship Type="http://schemas.openxmlformats.org/officeDocument/2006/relationships/notesSlide" Target="/ppt/notesSlides/notesSlide9.xml" Id="R58de9cd6f81c4f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e300f08f54816" /><Relationship Type="http://schemas.openxmlformats.org/officeDocument/2006/relationships/notesSlide" Target="/ppt/notesSlides/notesSlide10.xml" Id="R5f50c70079af44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2e3e4855f4e11" /><Relationship Type="http://schemas.openxmlformats.org/officeDocument/2006/relationships/notesSlide" Target="/ppt/notesSlides/notesSlide11.xml" Id="Refac6d1320804c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270839c54494c" /><Relationship Type="http://schemas.openxmlformats.org/officeDocument/2006/relationships/notesSlide" Target="/ppt/notesSlides/notesSlide12.xml" Id="R5630ed8c63b94a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ccent-band">
            <a:extLst xmlns:a="http://schemas.openxmlformats.org/drawingml/2006/main">
              <a:ext uri="{FF2B5EF4-FFF2-40B4-BE49-F238E27FC236}">
                <a16:creationId xmlns:a16="http://schemas.microsoft.com/office/drawing/2014/main" id="{EDE38B1A-9443-4816-A151-BF1BCFEF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4C377BA-4175-40EF-BD72-D868DEB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53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Athena full-MHD + jet 条件射电代理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19CB25A6-9E7C-4A54-9132-1E73871C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477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500" b="1">
                <a:solidFill>
                  <a:srgbClr val="0B2545"/>
                </a:solidFill>
              </a:defRPr>
            </a:pPr>
            <a:r>
              <a:rPr sz="4500" b="1">
                <a:solidFill>
                  <a:srgbClr val="0B2545"/>
                </a:solidFill>
              </a:rPr>
              <a:t>伴随重联喷流的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500" b="1">
                <a:solidFill>
                  <a:srgbClr val="0B2545"/>
                </a:solidFill>
              </a:defRPr>
            </a:pPr>
            <a:r>
              <a:rPr sz="4500" b="1">
                <a:solidFill>
                  <a:srgbClr val="0B2545"/>
                </a:solidFill>
              </a:rPr>
              <a:t>Spike-Topping Type III 模拟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4B04C5D-A335-4C7E-8A3A-BB0A00E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172033"/>
                </a:solidFill>
              </a:defRPr>
            </a:pPr>
            <a:r>
              <a:rPr sz="2550" b="0">
                <a:solidFill>
                  <a:srgbClr val="172033"/>
                </a:solidFill>
              </a:rPr>
              <a:t>方法实现、数值验证与可证伪结果</a:t>
            </a:r>
          </a:p>
        </p:txBody>
      </p:sp>
      <p:sp>
        <p:nvSpPr>
          <p:cNvPr id="5" name="result-band">
            <a:extLst xmlns:a="http://schemas.openxmlformats.org/drawingml/2006/main">
              <a:ext uri="{FF2B5EF4-FFF2-40B4-BE49-F238E27FC236}">
                <a16:creationId xmlns:a16="http://schemas.microsoft.com/office/drawing/2014/main" id="{6B28DF33-1E2B-481A-A759-1787BC65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sult-text">
            <a:extLst xmlns:a="http://schemas.openxmlformats.org/drawingml/2006/main">
              <a:ext uri="{FF2B5EF4-FFF2-40B4-BE49-F238E27FC236}">
                <a16:creationId xmlns:a16="http://schemas.microsoft.com/office/drawing/2014/main" id="{473E8E2C-D704-4E7C-A7D4-35EA3E9F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927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B2545"/>
                </a:solidFill>
              </a:defRPr>
            </a:pPr>
            <a:r>
              <a:rPr sz="2325" b="1">
                <a:solidFill>
                  <a:srgbClr val="0B2545"/>
                </a:solidFill>
              </a:rPr>
              <a:t>Athena 512×256 主案例：jet 与重联同时达阈值 → 7 个严格 topping 事件</a:t>
            </a:r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82E66EAB-3129-4264-9959-87D694A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Apple Silicon Mac · seed 20260726 · Athena C CPU 结果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7863F4-FD8A-4AFB-B86F-6781DD3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A8E86AC-C7A4-47D2-AD63-4698DA89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B5666B4-F23A-4656-82AA-6F7B01B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5506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EB225E17-D592-4752-8C3E-CC97AC0F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研究动机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D95F45-9543-4C0D-864D-CC116213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关键不是画出 spike，而是检验其 jet 同期性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DA2ED1-D0D0-440A-9244-8A5F664F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4746B281-EBE9-48F0-BDAE-0A4D491E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观测解释需要同时回答三个条件：</a:t>
            </a:r>
          </a:p>
        </p:txBody>
      </p:sp>
      <p:sp>
        <p:nvSpPr>
          <p:cNvPr id="5" name="conditions">
            <a:extLst xmlns:a="http://schemas.openxmlformats.org/drawingml/2006/main">
              <a:ext uri="{FF2B5EF4-FFF2-40B4-BE49-F238E27FC236}">
                <a16:creationId xmlns:a16="http://schemas.microsoft.com/office/drawing/2014/main" id="{BD56810B-12F5-4083-937B-3E47A30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① Type III 主脊随时间向低频漂移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② spike 位于起始窗和同期主脊高频侧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③ spike 时刻 qJ、qR 同时超过预设阈值</a:t>
            </a:r>
          </a:p>
        </p:txBody>
      </p:sp>
      <p:sp>
        <p:nvSpPr>
          <p:cNvPr id="6" name="warning">
            <a:extLst xmlns:a="http://schemas.openxmlformats.org/drawingml/2006/main">
              <a:ext uri="{FF2B5EF4-FFF2-40B4-BE49-F238E27FC236}">
                <a16:creationId xmlns:a16="http://schemas.microsoft.com/office/drawing/2014/main" id="{54565591-C72A-402C-B1CC-F54276BF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arning-text">
            <a:extLst xmlns:a="http://schemas.openxmlformats.org/drawingml/2006/main">
              <a:ext uri="{FF2B5EF4-FFF2-40B4-BE49-F238E27FC236}">
                <a16:creationId xmlns:a16="http://schemas.microsoft.com/office/drawing/2014/main" id="{CB66101F-7EAA-487B-8F1E-FD3D716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305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只满足①+②，只能说明“几何 topping”，不能证明 jet 伴随性。</a:t>
            </a:r>
          </a:p>
        </p:txBody>
      </p:sp>
      <p:sp>
        <p:nvSpPr>
          <p:cNvPr id="8" name="spectrum-mini-frame">
            <a:extLst xmlns:a="http://schemas.openxmlformats.org/drawingml/2006/main">
              <a:ext uri="{FF2B5EF4-FFF2-40B4-BE49-F238E27FC236}">
                <a16:creationId xmlns:a16="http://schemas.microsoft.com/office/drawing/2014/main" id="{FA8FBF4B-4054-4D2C-B2A0-35C1451D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81150"/>
            <a:ext cx="56578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285e9383c4c2e"/>
          <a:stretch xmlns:a="http://schemas.openxmlformats.org/drawingml/2006/main"/>
        </p:blipFill>
        <p:spPr>
          <a:xfrm xmlns:a="http://schemas.openxmlformats.org/drawingml/2006/main" flipH="0" flipV="0">
            <a:off x="5905500" y="2134195"/>
            <a:ext cx="5619750" cy="3161109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352BD02-C66C-42D5-9E86-4560836A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EA8633F-B5FC-4A67-8ADF-37F4ACB7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7EECADD-0D07-4584-8C8D-67811575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88306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C68AEB5D-9C9B-414F-B7D2-356F10B3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科学假设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D2264B-1CD1-4FDF-A3F0-9314F807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full-MHD 与射电代理分层，避免把相关性写成因果性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8496E15-553B-4CC9-AE55-46179A0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86A45522-DC59-4ACD-9903-AEA9F92E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86025"/>
            <a:ext cx="628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2CF65E95-02F4-4013-BB1F-EF493BD4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86025"/>
            <a:ext cx="628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2B509665-AB43-46DD-A14C-9E896D0E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86025"/>
            <a:ext cx="628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D423013A-5E67-4A01-8705-17ABF25E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86025"/>
            <a:ext cx="628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B86083DB-FD07-4F34-9A99-7ECC2ADB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A9A02D3E-0A77-4C90-BCB4-A9EE5FD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双 Harris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电流片</a:t>
            </a:r>
          </a:p>
        </p:txBody>
      </p:sp>
      <p:sp>
        <p:nvSpPr>
          <p:cNvPr id="10" name="node-sub-0">
            <a:extLst xmlns:a="http://schemas.openxmlformats.org/drawingml/2006/main">
              <a:ext uri="{FF2B5EF4-FFF2-40B4-BE49-F238E27FC236}">
                <a16:creationId xmlns:a16="http://schemas.microsoft.com/office/drawing/2014/main" id="{6888DA62-D835-4671-A667-360CC802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full-MHD</a:t>
            </a:r>
          </a:p>
        </p:txBody>
      </p:sp>
      <p:sp>
        <p:nvSpPr>
          <p:cNvPr id="11" name="node-1">
            <a:extLst xmlns:a="http://schemas.openxmlformats.org/drawingml/2006/main">
              <a:ext uri="{FF2B5EF4-FFF2-40B4-BE49-F238E27FC236}">
                <a16:creationId xmlns:a16="http://schemas.microsoft.com/office/drawing/2014/main" id="{3EC691AD-F13C-4466-8950-A8BB439E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538E430E-AF44-4381-85BF-E2A96B5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撕裂与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双向流</a:t>
            </a:r>
          </a:p>
        </p:txBody>
      </p:sp>
      <p:sp>
        <p:nvSpPr>
          <p:cNvPr id="13" name="node-sub-1">
            <a:extLst xmlns:a="http://schemas.openxmlformats.org/drawingml/2006/main">
              <a:ext uri="{FF2B5EF4-FFF2-40B4-BE49-F238E27FC236}">
                <a16:creationId xmlns:a16="http://schemas.microsoft.com/office/drawing/2014/main" id="{CDE5C778-20FD-464B-B32C-60B1C806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片层分位数诊断</a:t>
            </a:r>
          </a:p>
        </p:txBody>
      </p:sp>
      <p:sp>
        <p:nvSpPr>
          <p:cNvPr id="14" name="node-2">
            <a:extLst xmlns:a="http://schemas.openxmlformats.org/drawingml/2006/main">
              <a:ext uri="{FF2B5EF4-FFF2-40B4-BE49-F238E27FC236}">
                <a16:creationId xmlns:a16="http://schemas.microsoft.com/office/drawing/2014/main" id="{61F5A75F-355F-4046-BD88-3A79A623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76FB1EF4-3F20-4A1F-BFA6-9821BB5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电子注入</a:t>
            </a:r>
          </a:p>
        </p:txBody>
      </p:sp>
      <p:sp>
        <p:nvSpPr>
          <p:cNvPr id="16" name="node-sub-2">
            <a:extLst xmlns:a="http://schemas.openxmlformats.org/drawingml/2006/main">
              <a:ext uri="{FF2B5EF4-FFF2-40B4-BE49-F238E27FC236}">
                <a16:creationId xmlns:a16="http://schemas.microsoft.com/office/drawing/2014/main" id="{3F6ABCBD-E5A4-480D-BB4D-D2AC723E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qJ qR 条件代理</a:t>
            </a:r>
          </a:p>
        </p:txBody>
      </p:sp>
      <p:sp>
        <p:nvSpPr>
          <p:cNvPr id="17" name="node-3">
            <a:extLst xmlns:a="http://schemas.openxmlformats.org/drawingml/2006/main">
              <a:ext uri="{FF2B5EF4-FFF2-40B4-BE49-F238E27FC236}">
                <a16:creationId xmlns:a16="http://schemas.microsoft.com/office/drawing/2014/main" id="{526F1971-80D0-479A-9A60-D25EB621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B2D82AE6-4CBE-4606-83CB-715CC063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Type III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主脊</a:t>
            </a:r>
          </a:p>
        </p:txBody>
      </p:sp>
      <p:sp>
        <p:nvSpPr>
          <p:cNvPr id="19" name="node-sub-3">
            <a:extLst xmlns:a="http://schemas.openxmlformats.org/drawingml/2006/main">
              <a:ext uri="{FF2B5EF4-FFF2-40B4-BE49-F238E27FC236}">
                <a16:creationId xmlns:a16="http://schemas.microsoft.com/office/drawing/2014/main" id="{3C2671A6-ABD3-427C-AF93-20D36D57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电子束+密度代理</a:t>
            </a:r>
          </a:p>
        </p:txBody>
      </p:sp>
      <p:sp>
        <p:nvSpPr>
          <p:cNvPr id="20" name="node-4">
            <a:extLst xmlns:a="http://schemas.openxmlformats.org/drawingml/2006/main">
              <a:ext uri="{FF2B5EF4-FFF2-40B4-BE49-F238E27FC236}">
                <a16:creationId xmlns:a16="http://schemas.microsoft.com/office/drawing/2014/main" id="{E48009BE-C175-4AEF-8907-6728F59D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95500"/>
            <a:ext cx="1562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13E34666-7C66-4E7A-B77C-9B68C29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717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高频 spike</a:t>
            </a:r>
          </a:p>
        </p:txBody>
      </p:sp>
      <p:sp>
        <p:nvSpPr>
          <p:cNvPr id="22" name="node-sub-4">
            <a:extLst xmlns:a="http://schemas.openxmlformats.org/drawingml/2006/main">
              <a:ext uri="{FF2B5EF4-FFF2-40B4-BE49-F238E27FC236}">
                <a16:creationId xmlns:a16="http://schemas.microsoft.com/office/drawing/2014/main" id="{05D25A9A-CB2E-4DCC-86F7-7D496E99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860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二维高斯代理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CE080316-2907-4D4B-ADAC-3B6A70A6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10020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sp>
        <p:nvSpPr>
          <p:cNvPr id="24" name="boundary-head">
            <a:extLst xmlns:a="http://schemas.openxmlformats.org/drawingml/2006/main">
              <a:ext uri="{FF2B5EF4-FFF2-40B4-BE49-F238E27FC236}">
                <a16:creationId xmlns:a16="http://schemas.microsoft.com/office/drawing/2014/main" id="{2220EF7B-82E0-47F7-AB7B-3325E220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C9302C"/>
                </a:solidFill>
              </a:defRPr>
            </a:pPr>
            <a:r>
              <a:rPr sz="2100" b="1">
                <a:solidFill>
                  <a:srgbClr val="C9302C"/>
                </a:solidFill>
              </a:rPr>
              <a:t>可信边界</a:t>
            </a:r>
          </a:p>
        </p:txBody>
      </p:sp>
      <p:sp>
        <p:nvSpPr>
          <p:cNvPr id="25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9514DC28-C7A8-44DF-8457-B38E5647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57650"/>
            <a:ext cx="7848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自洽：二维可压缩电阻—黏性 full-MHD 与 CT 无散演化。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代理：jet 条件、电子束、指数密度、射电强度与 spike。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不声称：动理学辐射、真实事件反演或 spike 由 MHD 自动产生。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8C86A9-AE65-41E8-B3C1-EAD56BB6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C991191-CDD0-4123-B2BD-3058073E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BB271D-09EB-4E00-B602-997075A7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464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316B311-7D21-4D8B-AB12-FBC2E40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方法实现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8E9406-8FFC-497A-B9F8-B7684464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Athena full-MHD 以 CT 保持无散，并显式加入 η、ν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64DD9CF-1A22-4CB3-A315-5D6D9714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arris-frame">
            <a:extLst xmlns:a="http://schemas.openxmlformats.org/drawingml/2006/main">
              <a:ext uri="{FF2B5EF4-FFF2-40B4-BE49-F238E27FC236}">
                <a16:creationId xmlns:a16="http://schemas.microsoft.com/office/drawing/2014/main" id="{5EADD921-9D1E-41A5-B364-02F329C4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8674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29ee4e1334a60"/>
          <a:stretch xmlns:a="http://schemas.openxmlformats.org/drawingml/2006/main"/>
        </p:blipFill>
        <p:spPr>
          <a:xfrm xmlns:a="http://schemas.openxmlformats.org/drawingml/2006/main" flipH="0" flipV="0">
            <a:off x="628650" y="1999059"/>
            <a:ext cx="5829300" cy="3278981"/>
          </a:xfrm>
          <a:prstGeom xmlns:a="http://schemas.openxmlformats.org/drawingml/2006/main" prst="rect">
            <a:avLst/>
          </a:prstGeom>
        </p:spPr>
      </p:pic>
      <p:sp>
        <p:nvSpPr>
          <p:cNvPr id="6" name="eq1">
            <a:extLst xmlns:a="http://schemas.openxmlformats.org/drawingml/2006/main">
              <a:ext uri="{FF2B5EF4-FFF2-40B4-BE49-F238E27FC236}">
                <a16:creationId xmlns:a16="http://schemas.microsoft.com/office/drawing/2014/main" id="{7B2B463E-9D5D-4D5D-AD47-DCF316B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∂ρ/∂t + ∇·(ρv) = 0</a:t>
            </a:r>
          </a:p>
        </p:txBody>
      </p:sp>
      <p:sp>
        <p:nvSpPr>
          <p:cNvPr id="7" name="eq2">
            <a:extLst xmlns:a="http://schemas.openxmlformats.org/drawingml/2006/main">
              <a:ext uri="{FF2B5EF4-FFF2-40B4-BE49-F238E27FC236}">
                <a16:creationId xmlns:a16="http://schemas.microsoft.com/office/drawing/2014/main" id="{56C95C9E-113D-4BC4-9D44-73B5809A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743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0B2545"/>
                </a:solidFill>
              </a:defRPr>
            </a:pPr>
            <a:r>
              <a:rPr sz="2325" b="1">
                <a:solidFill>
                  <a:srgbClr val="0B2545"/>
                </a:solidFill>
              </a:rPr>
              <a:t>∂B/∂t = ∇×(v×B−ηJ),   ∇·B=0</a:t>
            </a:r>
          </a:p>
        </p:txBody>
      </p:sp>
      <p:sp>
        <p:nvSpPr>
          <p:cNvPr id="8" name="method-rule">
            <a:extLst xmlns:a="http://schemas.openxmlformats.org/drawingml/2006/main">
              <a:ext uri="{FF2B5EF4-FFF2-40B4-BE49-F238E27FC236}">
                <a16:creationId xmlns:a16="http://schemas.microsoft.com/office/drawing/2014/main" id="{702C6857-64A5-442A-ABDA-C45D0CF8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05150"/>
            <a:ext cx="403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list">
            <a:extLst xmlns:a="http://schemas.openxmlformats.org/drawingml/2006/main">
              <a:ext uri="{FF2B5EF4-FFF2-40B4-BE49-F238E27FC236}">
                <a16:creationId xmlns:a16="http://schemas.microsoft.com/office/drawing/2014/main" id="{A5359292-B30F-49D3-9956-9AC27E3C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528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172033"/>
                </a:solidFill>
              </a:defRPr>
            </a:pPr>
            <a:r>
              <a:rPr sz="2100" b="0">
                <a:solidFill>
                  <a:srgbClr val="172033"/>
                </a:solidFill>
              </a:rPr>
              <a:t>• CTU + HLLD + 三阶重构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172033"/>
                </a:solidFill>
              </a:defRPr>
            </a:pPr>
            <a:r>
              <a:rPr sz="2100" b="0">
                <a:solidFill>
                  <a:srgbClr val="172033"/>
                </a:solidFill>
              </a:rPr>
              <a:t>• constrained transport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172033"/>
                </a:solidFill>
              </a:defRPr>
            </a:pPr>
            <a:r>
              <a:rPr sz="2100" b="0">
                <a:solidFill>
                  <a:srgbClr val="172033"/>
                </a:solidFill>
              </a:rPr>
              <a:t>• η=ν=0.002，γ=5/3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172033"/>
                </a:solidFill>
              </a:defRPr>
            </a:pPr>
            <a:r>
              <a:rPr sz="2100" b="0">
                <a:solidFill>
                  <a:srgbClr val="172033"/>
                </a:solidFill>
              </a:rPr>
              <a:t>• double，二维周期边界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F69067C-F599-4538-B1D0-5FE703DE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D90DA49-7AD6-41AD-B763-944BE795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8AA5901-1A39-4C4C-99AF-58A1CCB6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0205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0F3C25C9-15FE-4AFB-BD0E-794EC3C1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数值验证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D35114-AB5F-4BF9-A3F9-996330BC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256→512→1024 的核心诊断差异递减并低于 10%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408A58-C0A1-4704-8C49-BF6655AE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vergence-frame">
            <a:extLst xmlns:a="http://schemas.openxmlformats.org/drawingml/2006/main">
              <a:ext uri="{FF2B5EF4-FFF2-40B4-BE49-F238E27FC236}">
                <a16:creationId xmlns:a16="http://schemas.microsoft.com/office/drawing/2014/main" id="{C2FE950E-6795-491D-AFD8-C51F5AD7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a29cca42b4ecd"/>
          <a:stretch xmlns:a="http://schemas.openxmlformats.org/drawingml/2006/main"/>
        </p:blipFill>
        <p:spPr>
          <a:xfrm xmlns:a="http://schemas.openxmlformats.org/drawingml/2006/main" flipH="0" flipV="0">
            <a:off x="609600" y="1689497"/>
            <a:ext cx="7200900" cy="4050506"/>
          </a:xfrm>
          <a:prstGeom xmlns:a="http://schemas.openxmlformats.org/drawingml/2006/main" prst="rect">
            <a:avLst/>
          </a:prstGeom>
        </p:spPr>
      </p:pic>
      <p:sp>
        <p:nvSpPr>
          <p:cNvPr id="6" name="metric1">
            <a:extLst xmlns:a="http://schemas.openxmlformats.org/drawingml/2006/main">
              <a:ext uri="{FF2B5EF4-FFF2-40B4-BE49-F238E27FC236}">
                <a16:creationId xmlns:a16="http://schemas.microsoft.com/office/drawing/2014/main" id="{255EC826-C23A-4BBC-9018-9E2946B7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2A7F8E"/>
                </a:solidFill>
              </a:defRPr>
            </a:pPr>
            <a:r>
              <a:rPr sz="2850" b="1">
                <a:solidFill>
                  <a:srgbClr val="2A7F8E"/>
                </a:solidFill>
              </a:rPr>
              <a:t>20.5% 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2A7F8E"/>
                </a:solidFill>
              </a:defRPr>
            </a:pPr>
            <a:r>
              <a:rPr sz="2850" b="1">
                <a:solidFill>
                  <a:srgbClr val="2A7F8E"/>
                </a:solidFill>
              </a:rPr>
              <a:t>6.5%</a:t>
            </a:r>
          </a:p>
        </p:txBody>
      </p:sp>
      <p:sp>
        <p:nvSpPr>
          <p:cNvPr id="7" name="metric1-label">
            <a:extLst xmlns:a="http://schemas.openxmlformats.org/drawingml/2006/main">
              <a:ext uri="{FF2B5EF4-FFF2-40B4-BE49-F238E27FC236}">
                <a16:creationId xmlns:a16="http://schemas.microsoft.com/office/drawing/2014/main" id="{2BCEB2D1-DF97-4FB2-9563-E6E71A29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峰值重联率相邻分辨率差异</a:t>
            </a:r>
          </a:p>
        </p:txBody>
      </p:sp>
      <p:sp>
        <p:nvSpPr>
          <p:cNvPr id="8" name="metric-rule">
            <a:extLst xmlns:a="http://schemas.openxmlformats.org/drawingml/2006/main">
              <a:ext uri="{FF2B5EF4-FFF2-40B4-BE49-F238E27FC236}">
                <a16:creationId xmlns:a16="http://schemas.microsoft.com/office/drawing/2014/main" id="{E8AE70CD-CCDF-49DF-970A-752E6362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2">
            <a:extLst xmlns:a="http://schemas.openxmlformats.org/drawingml/2006/main">
              <a:ext uri="{FF2B5EF4-FFF2-40B4-BE49-F238E27FC236}">
                <a16:creationId xmlns:a16="http://schemas.microsoft.com/office/drawing/2014/main" id="{A9AC5F9C-E4BA-44FA-A324-A3AB19F4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6.63 × 10⁻¹⁴</a:t>
            </a:r>
          </a:p>
        </p:txBody>
      </p:sp>
      <p:sp>
        <p:nvSpPr>
          <p:cNvPr id="10" name="metric2-label">
            <a:extLst xmlns:a="http://schemas.openxmlformats.org/drawingml/2006/main">
              <a:ext uri="{FF2B5EF4-FFF2-40B4-BE49-F238E27FC236}">
                <a16:creationId xmlns:a16="http://schemas.microsoft.com/office/drawing/2014/main" id="{3E66813E-095C-4766-8087-D0A0E85D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standard 最大 CT 无散 RMS</a:t>
            </a:r>
          </a:p>
        </p:txBody>
      </p:sp>
      <p:sp>
        <p:nvSpPr>
          <p:cNvPr id="11" name="metric3">
            <a:extLst xmlns:a="http://schemas.openxmlformats.org/drawingml/2006/main">
              <a:ext uri="{FF2B5EF4-FFF2-40B4-BE49-F238E27FC236}">
                <a16:creationId xmlns:a16="http://schemas.microsoft.com/office/drawing/2014/main" id="{9A869291-B345-48CC-97B9-CEB767C3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672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D97706"/>
                </a:solidFill>
              </a:defRPr>
            </a:pPr>
            <a:r>
              <a:rPr sz="2925" b="1">
                <a:solidFill>
                  <a:srgbClr val="D97706"/>
                </a:solidFill>
              </a:rPr>
              <a:t>+1.53×10⁻⁸ %</a:t>
            </a:r>
          </a:p>
        </p:txBody>
      </p:sp>
      <p:sp>
        <p:nvSpPr>
          <p:cNvPr id="12" name="metric3-label">
            <a:extLst xmlns:a="http://schemas.openxmlformats.org/drawingml/2006/main">
              <a:ext uri="{FF2B5EF4-FFF2-40B4-BE49-F238E27FC236}">
                <a16:creationId xmlns:a16="http://schemas.microsoft.com/office/drawing/2014/main" id="{FAC679B6-5440-48BF-86A6-D5621441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578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standard 总能量漂移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3AFB6F-8952-4AF3-A0BD-332ACEE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DFD6A82-C053-425C-B6E9-5167B1F1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F2674B0-E7E0-4708-B857-5007235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0110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5C4A1E1-0426-4DB7-BE4C-8489D65E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JET 诊断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C4EF58-08D8-4CFD-B1DF-99E82D16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X 点出流窗口出现持续双向 jet，局地重联率同步增强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FCEFA6-E8C5-4E15-B939-3944A075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jet-map-frame">
            <a:extLst xmlns:a="http://schemas.openxmlformats.org/drawingml/2006/main">
              <a:ext uri="{FF2B5EF4-FFF2-40B4-BE49-F238E27FC236}">
                <a16:creationId xmlns:a16="http://schemas.microsoft.com/office/drawing/2014/main" id="{2EC06AB5-2DDE-47B7-ABDB-54119DAD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5054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0a147aa8f47bd"/>
          <a:stretch xmlns:a="http://schemas.openxmlformats.org/drawingml/2006/main"/>
        </p:blipFill>
        <p:spPr>
          <a:xfrm xmlns:a="http://schemas.openxmlformats.org/drawingml/2006/main" flipH="0" flipV="0">
            <a:off x="609600" y="2091333"/>
            <a:ext cx="5467350" cy="3075384"/>
          </a:xfrm>
          <a:prstGeom xmlns:a="http://schemas.openxmlformats.org/drawingml/2006/main" prst="rect">
            <a:avLst/>
          </a:prstGeom>
        </p:spPr>
      </p:pic>
      <p:sp>
        <p:nvSpPr>
          <p:cNvPr id="6" name="jet-curves-frame">
            <a:extLst xmlns:a="http://schemas.openxmlformats.org/drawingml/2006/main">
              <a:ext uri="{FF2B5EF4-FFF2-40B4-BE49-F238E27FC236}">
                <a16:creationId xmlns:a16="http://schemas.microsoft.com/office/drawing/2014/main" id="{9DEBC8A5-F06E-417E-A189-D93C7FC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52768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036f3e64e45bb"/>
          <a:stretch xmlns:a="http://schemas.openxmlformats.org/drawingml/2006/main"/>
        </p:blipFill>
        <p:spPr>
          <a:xfrm xmlns:a="http://schemas.openxmlformats.org/drawingml/2006/main" flipH="0" flipV="0">
            <a:off x="6305550" y="2155627"/>
            <a:ext cx="5238750" cy="2946797"/>
          </a:xfrm>
          <a:prstGeom xmlns:a="http://schemas.openxmlformats.org/drawingml/2006/main" prst="rect">
            <a:avLst/>
          </a:prstGeom>
        </p:spPr>
      </p:pic>
      <p:sp>
        <p:nvSpPr>
          <p:cNvPr id="8" name="jet-caption">
            <a:extLst xmlns:a="http://schemas.openxmlformats.org/drawingml/2006/main">
              <a:ext uri="{FF2B5EF4-FFF2-40B4-BE49-F238E27FC236}">
                <a16:creationId xmlns:a16="http://schemas.microsoft.com/office/drawing/2014/main" id="{5A0F700A-EACE-4E86-BC6D-CB38DDB2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τJ≈0.852；qJ 达到 1，qR 峰值≈0.641。局地磁通变化率与 X 点 Ez 独立交叉检查。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A8C57B5-639B-4B8C-954E-F209366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B41D3C2-959F-4073-860A-85431AC8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9A8D39E-65A9-4075-A591-974101E5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8418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F0E4D6F4-6C56-497E-86CB-C4B384E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事件耦合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390E9D-999D-4594-9551-14246452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代理时间映射只用于 jet 条件射电采样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253D656-BABE-4535-927A-E20D5E0C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frame">
            <a:extLst xmlns:a="http://schemas.openxmlformats.org/drawingml/2006/main">
              <a:ext uri="{FF2B5EF4-FFF2-40B4-BE49-F238E27FC236}">
                <a16:creationId xmlns:a16="http://schemas.microsoft.com/office/drawing/2014/main" id="{337AD47D-73D3-4A2A-8522-B52BA933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7239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1e8d43db045cd"/>
          <a:stretch xmlns:a="http://schemas.openxmlformats.org/drawingml/2006/main"/>
        </p:blipFill>
        <p:spPr>
          <a:xfrm xmlns:a="http://schemas.openxmlformats.org/drawingml/2006/main" flipH="0" flipV="0">
            <a:off x="590550" y="1679972"/>
            <a:ext cx="7200900" cy="4050506"/>
          </a:xfrm>
          <a:prstGeom xmlns:a="http://schemas.openxmlformats.org/drawingml/2006/main" prst="rect">
            <a:avLst/>
          </a:prstGeom>
        </p:spPr>
      </p:pic>
      <p:sp>
        <p:nvSpPr>
          <p:cNvPr id="6" name="mapping">
            <a:extLst xmlns:a="http://schemas.openxmlformats.org/drawingml/2006/main">
              <a:ext uri="{FF2B5EF4-FFF2-40B4-BE49-F238E27FC236}">
                <a16:creationId xmlns:a16="http://schemas.microsoft.com/office/drawing/2014/main" id="{C00A321A-FF4B-41D1-8A61-8B7BC97B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[τJ, τend]  →  [0.08, 0.75] s</a:t>
            </a:r>
          </a:p>
        </p:txBody>
      </p:sp>
      <p:sp>
        <p:nvSpPr>
          <p:cNvPr id="7" name="candidate">
            <a:extLst xmlns:a="http://schemas.openxmlformats.org/drawingml/2006/main">
              <a:ext uri="{FF2B5EF4-FFF2-40B4-BE49-F238E27FC236}">
                <a16:creationId xmlns:a16="http://schemas.microsoft.com/office/drawing/2014/main" id="{C0F9BA62-DF61-4196-8A5E-F90004A3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2A7F8E"/>
                </a:solidFill>
              </a:defRPr>
            </a:pPr>
            <a:r>
              <a:rPr sz="2025" b="1">
                <a:solidFill>
                  <a:srgbClr val="2A7F8E"/>
                </a:solidFill>
              </a:rPr>
              <a:t>候选集合</a:t>
            </a:r>
          </a:p>
        </p:txBody>
      </p:sp>
      <p:sp>
        <p:nvSpPr>
          <p:cNvPr id="8" name="candidate-eq">
            <a:extLst xmlns:a="http://schemas.openxmlformats.org/drawingml/2006/main">
              <a:ext uri="{FF2B5EF4-FFF2-40B4-BE49-F238E27FC236}">
                <a16:creationId xmlns:a16="http://schemas.microsoft.com/office/drawing/2014/main" id="{C1775BB8-F167-46FC-A67B-B9983C51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914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qJ(t) ≥ 0.6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且 qR(t) ≥ 0.6</a:t>
            </a:r>
          </a:p>
        </p:txBody>
      </p:sp>
      <p:sp>
        <p:nvSpPr>
          <p:cNvPr id="9" name="no-event">
            <a:extLst xmlns:a="http://schemas.openxmlformats.org/drawingml/2006/main">
              <a:ext uri="{FF2B5EF4-FFF2-40B4-BE49-F238E27FC236}">
                <a16:creationId xmlns:a16="http://schemas.microsoft.com/office/drawing/2014/main" id="{ED5E2A7A-6E4F-4D04-91C1-A40FA0FC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0" name="no-event-text">
            <a:extLst xmlns:a="http://schemas.openxmlformats.org/drawingml/2006/main">
              <a:ext uri="{FF2B5EF4-FFF2-40B4-BE49-F238E27FC236}">
                <a16:creationId xmlns:a16="http://schemas.microsoft.com/office/drawing/2014/main" id="{28620867-3A6B-47CC-B82A-19914C9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D97706"/>
                </a:solidFill>
              </a:defRPr>
            </a:pPr>
            <a:r>
              <a:rPr sz="1875" b="1">
                <a:solidFill>
                  <a:srgbClr val="D97706"/>
                </a:solidFill>
              </a:rPr>
              <a:t>联合候选存在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D97706"/>
                </a:solidFill>
              </a:defRPr>
            </a:pPr>
            <a:r>
              <a:rPr sz="1875" b="1">
                <a:solidFill>
                  <a:srgbClr val="D97706"/>
                </a:solidFill>
              </a:rPr>
              <a:t>→ 返回 7×5 catalog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D97706"/>
                </a:solidFill>
              </a:defRPr>
            </a:pPr>
            <a:r>
              <a:rPr sz="1875" b="1">
                <a:solidFill>
                  <a:srgbClr val="D97706"/>
                </a:solidFill>
              </a:rPr>
              <a:t>→ Cjet = 1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A85B5FF-D065-4DE5-BF17-2038C0CD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B113315-E624-4168-91DC-B9809467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92A5A1C-06D8-4D30-823A-32E55AEE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1400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ADA470-D207-4E9D-8A1F-D7FEEB55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动态谱结果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F0A3B9-D8FD-4D2D-9ECD-DB61A4A7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Athena 主案例得到 7 个严格 topping 事件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AE6A5B-D730-41F8-9271-6A89939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pectrum-compare-frame">
            <a:extLst xmlns:a="http://schemas.openxmlformats.org/drawingml/2006/main">
              <a:ext uri="{FF2B5EF4-FFF2-40B4-BE49-F238E27FC236}">
                <a16:creationId xmlns:a16="http://schemas.microsoft.com/office/drawing/2014/main" id="{597B3A78-4A11-42D6-9702-8D3B91B0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6b4f629e94348"/>
          <a:stretch xmlns:a="http://schemas.openxmlformats.org/drawingml/2006/main"/>
        </p:blipFill>
        <p:spPr>
          <a:xfrm xmlns:a="http://schemas.openxmlformats.org/drawingml/2006/main" flipH="0" flipV="0">
            <a:off x="1896533" y="1428750"/>
            <a:ext cx="8398933" cy="4724400"/>
          </a:xfrm>
          <a:prstGeom xmlns:a="http://schemas.openxmlformats.org/drawingml/2006/main" prst="rect">
            <a:avLst/>
          </a:prstGeom>
        </p:spPr>
      </p:pic>
      <p:sp>
        <p:nvSpPr>
          <p:cNvPr id="6" name="spectrum-note">
            <a:extLst xmlns:a="http://schemas.openxmlformats.org/drawingml/2006/main">
              <a:ext uri="{FF2B5EF4-FFF2-40B4-BE49-F238E27FC236}">
                <a16:creationId xmlns:a16="http://schemas.microsoft.com/office/drawing/2014/main" id="{004624FC-17DA-45BD-8D57-A373EE03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15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Athena+jet：7 events，最小 Δf = 7.619 MHz，Cjet = 1；Type III 主脊严格下降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A237102-61AB-4691-A200-D76494F4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EA96EE3-F401-4AA5-B599-CF8406B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F139F5-7F84-496D-B565-891A3E3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9042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A528A5F3-AE6C-4453-B3F3-4FCA7225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稳健性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F8BB68-4619-4D3B-ABB9-8AF773C0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无扰动与重跑支持事件分类的可复现性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25CD3CF-4D42-4246-B318-0478A326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rols-frame">
            <a:extLst xmlns:a="http://schemas.openxmlformats.org/drawingml/2006/main">
              <a:ext uri="{FF2B5EF4-FFF2-40B4-BE49-F238E27FC236}">
                <a16:creationId xmlns:a16="http://schemas.microsoft.com/office/drawing/2014/main" id="{689ACCFB-59E9-4A17-A53B-923B90B9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4770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497bf31254e6a"/>
          <a:stretch xmlns:a="http://schemas.openxmlformats.org/drawingml/2006/main"/>
        </p:blipFill>
        <p:spPr>
          <a:xfrm xmlns:a="http://schemas.openxmlformats.org/drawingml/2006/main" flipH="0" flipV="0">
            <a:off x="628650" y="1865709"/>
            <a:ext cx="6438900" cy="3621881"/>
          </a:xfrm>
          <a:prstGeom xmlns:a="http://schemas.openxmlformats.org/drawingml/2006/main" prst="rect">
            <a:avLst/>
          </a:prstGeom>
        </p:spPr>
      </p:pic>
      <p:sp>
        <p:nvSpPr>
          <p:cNvPr id="6" name="repeat-head">
            <a:extLst xmlns:a="http://schemas.openxmlformats.org/drawingml/2006/main">
              <a:ext uri="{FF2B5EF4-FFF2-40B4-BE49-F238E27FC236}">
                <a16:creationId xmlns:a16="http://schemas.microsoft.com/office/drawing/2014/main" id="{5B1CD643-C50A-4AE0-82F9-31CA631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可复现性</a:t>
            </a:r>
          </a:p>
        </p:txBody>
      </p:sp>
      <p:sp>
        <p:nvSpPr>
          <p:cNvPr id="7" name="repeat-big">
            <a:extLst xmlns:a="http://schemas.openxmlformats.org/drawingml/2006/main">
              <a:ext uri="{FF2B5EF4-FFF2-40B4-BE49-F238E27FC236}">
                <a16:creationId xmlns:a16="http://schemas.microsoft.com/office/drawing/2014/main" id="{ED8C87DC-1BE7-4D25-8653-81B42023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3181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2A7F8E"/>
                </a:solidFill>
              </a:defRPr>
            </a:pPr>
            <a:r>
              <a:rPr sz="4350" b="1">
                <a:solidFill>
                  <a:srgbClr val="2A7F8E"/>
                </a:solidFill>
              </a:rPr>
              <a:t>10 / 10</a:t>
            </a:r>
          </a:p>
        </p:txBody>
      </p:sp>
      <p:sp>
        <p:nvSpPr>
          <p:cNvPr id="8" name="repeat-label">
            <a:extLst xmlns:a="http://schemas.openxmlformats.org/drawingml/2006/main">
              <a:ext uri="{FF2B5EF4-FFF2-40B4-BE49-F238E27FC236}">
                <a16:creationId xmlns:a16="http://schemas.microsoft.com/office/drawing/2014/main" id="{3DC07236-B834-45FE-A885-4A56073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623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26174"/>
                </a:solidFill>
              </a:defRPr>
            </a:pPr>
            <a:r>
              <a:rPr sz="1800" b="0">
                <a:solidFill>
                  <a:srgbClr val="526174"/>
                </a:solidFill>
              </a:rPr>
              <a:t>关键场、射电谱与 catalog 完全一致</a:t>
            </a:r>
          </a:p>
        </p:txBody>
      </p:sp>
      <p:sp>
        <p:nvSpPr>
          <p:cNvPr id="9" name="repeat-rule">
            <a:extLst xmlns:a="http://schemas.openxmlformats.org/drawingml/2006/main">
              <a:ext uri="{FF2B5EF4-FFF2-40B4-BE49-F238E27FC236}">
                <a16:creationId xmlns:a16="http://schemas.microsoft.com/office/drawing/2014/main" id="{C10F29B1-F29B-448D-B1D5-8EB53DC0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eat-list">
            <a:extLst xmlns:a="http://schemas.openxmlformats.org/drawingml/2006/main">
              <a:ext uri="{FF2B5EF4-FFF2-40B4-BE49-F238E27FC236}">
                <a16:creationId xmlns:a16="http://schemas.microsoft.com/office/drawing/2014/main" id="{A0B74DFE-026E-442E-8A75-07338223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3200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• 无扰动：无持续 jet／重联 onset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• serial 与 2-rank MPI：场数组一致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• reference 与 native：场数组一致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0D35696-E463-4E2B-968D-7BC457D8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C44C1C7-30BB-430D-BD09-CEA28678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DC86DBB-9833-4209-8805-7DF200C1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4745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71DD999-385F-4AC4-95A4-8B58A3E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结论与局限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414576-A615-4083-A7E2-FC93DF28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full-MHD 基线支持事件分类，但射电层仍是现象学代理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8710E70-0F8C-4812-B966-B8E0660B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nding-head">
            <a:extLst xmlns:a="http://schemas.openxmlformats.org/drawingml/2006/main">
              <a:ext uri="{FF2B5EF4-FFF2-40B4-BE49-F238E27FC236}">
                <a16:creationId xmlns:a16="http://schemas.microsoft.com/office/drawing/2014/main" id="{51156B51-329F-4705-9F27-31A56E1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2A7F8E"/>
                </a:solidFill>
              </a:defRPr>
            </a:pPr>
            <a:r>
              <a:rPr sz="2325" b="1">
                <a:solidFill>
                  <a:srgbClr val="2A7F8E"/>
                </a:solidFill>
              </a:rPr>
              <a:t>本轮得到</a:t>
            </a:r>
          </a:p>
        </p:txBody>
      </p:sp>
      <p:sp>
        <p:nvSpPr>
          <p:cNvPr id="5" name="findings">
            <a:extLst xmlns:a="http://schemas.openxmlformats.org/drawingml/2006/main">
              <a:ext uri="{FF2B5EF4-FFF2-40B4-BE49-F238E27FC236}">
                <a16:creationId xmlns:a16="http://schemas.microsoft.com/office/drawing/2014/main" id="{F5370B38-87FC-4689-904D-F06DF68E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504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1. Athena C 的电阻、黏性、CT 与 double 构建通过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2. jet onset 与局地重联率联合候选成立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3. 固定 seed 得到 7 个严格 topping 事件</a:t>
            </a:r>
          </a:p>
        </p:txBody>
      </p:sp>
      <p:sp>
        <p:nvSpPr>
          <p:cNvPr id="6" name="vertical-rule">
            <a:extLst xmlns:a="http://schemas.openxmlformats.org/drawingml/2006/main">
              <a:ext uri="{FF2B5EF4-FFF2-40B4-BE49-F238E27FC236}">
                <a16:creationId xmlns:a16="http://schemas.microsoft.com/office/drawing/2014/main" id="{D1F7AB46-1FBA-4956-847E-A352E9E1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ext-head">
            <a:extLst xmlns:a="http://schemas.openxmlformats.org/drawingml/2006/main">
              <a:ext uri="{FF2B5EF4-FFF2-40B4-BE49-F238E27FC236}">
                <a16:creationId xmlns:a16="http://schemas.microsoft.com/office/drawing/2014/main" id="{6CCA988F-2A9C-4BEA-956A-34CE0B7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D97706"/>
                </a:solidFill>
              </a:defRPr>
            </a:pPr>
            <a:r>
              <a:rPr sz="2325" b="1">
                <a:solidFill>
                  <a:srgbClr val="D97706"/>
                </a:solidFill>
              </a:rPr>
              <a:t>下一步优先级</a:t>
            </a:r>
          </a:p>
        </p:txBody>
      </p:sp>
      <p:sp>
        <p:nvSpPr>
          <p:cNvPr id="8" name="next">
            <a:extLst xmlns:a="http://schemas.openxmlformats.org/drawingml/2006/main">
              <a:ext uri="{FF2B5EF4-FFF2-40B4-BE49-F238E27FC236}">
                <a16:creationId xmlns:a16="http://schemas.microsoft.com/office/drawing/2014/main" id="{DBD45A20-F6F5-4E83-B6FA-0CCC968C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14550"/>
            <a:ext cx="4286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• 在 WSL2 实测 1–12 ranks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• 显式 Alfvén尺度后做事件标定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• 加入粒子能谱与传播损失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72033"/>
                </a:solidFill>
              </a:defRPr>
            </a:pPr>
            <a:r>
              <a:rPr sz="2325" b="0">
                <a:solidFill>
                  <a:srgbClr val="172033"/>
                </a:solidFill>
              </a:rPr>
              <a:t>• AthenaK 对照通过后再用 RTX 4060</a:t>
            </a:r>
          </a:p>
        </p:txBody>
      </p:sp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D022BAE3-EC7E-45D3-A784-B633184E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848BFCEA-9E57-4125-8B92-C8E6000F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当前结论：支持 jet 条件化的现象学射电事件；不等于 spike 由 full-MHD 自洽产生。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D5ABD48-81FC-42AB-B0FB-DC7F1E09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6C2788E-4632-4DD4-A046-08B810DD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Athena Jet 条件 Spike-Topping Type III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AD8ED7C-F83B-40F0-B8E2-E727B92C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8112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2DBC61F-8636-4970-9C89-384AECB9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附录 A · 环境与运行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108B7F-91B4-4C4B-AFDC-54A977BB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Mac 已实测；WSL2 与 RTX 4060 保持待验证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1D5895-E062-4BD6-B2DA-D31B4427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nv-head">
            <a:extLst xmlns:a="http://schemas.openxmlformats.org/drawingml/2006/main">
              <a:ext uri="{FF2B5EF4-FFF2-40B4-BE49-F238E27FC236}">
                <a16:creationId xmlns:a16="http://schemas.microsoft.com/office/drawing/2014/main" id="{E949FD86-F8AE-46E0-9649-7E7D9403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2A7F8E"/>
                </a:solidFill>
              </a:defRPr>
            </a:pPr>
            <a:r>
              <a:rPr sz="2325" b="1">
                <a:solidFill>
                  <a:srgbClr val="2A7F8E"/>
                </a:solidFill>
              </a:rPr>
              <a:t>轻量依赖</a:t>
            </a:r>
          </a:p>
        </p:txBody>
      </p:sp>
      <p:sp>
        <p:nvSpPr>
          <p:cNvPr id="5" name="env-list">
            <a:extLst xmlns:a="http://schemas.openxmlformats.org/drawingml/2006/main">
              <a:ext uri="{FF2B5EF4-FFF2-40B4-BE49-F238E27FC236}">
                <a16:creationId xmlns:a16="http://schemas.microsoft.com/office/drawing/2014/main" id="{19718CC4-96AE-4C0E-A4E4-40A240C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2033"/>
                </a:solidFill>
              </a:defRPr>
            </a:pPr>
            <a:r>
              <a:rPr sz="2175" b="0">
                <a:solidFill>
                  <a:srgbClr val="172033"/>
                </a:solidFill>
              </a:rPr>
              <a:t>Python 3.14 · numpy · scipy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2033"/>
                </a:solidFill>
              </a:defRPr>
            </a:pPr>
            <a:r>
              <a:rPr sz="2175" b="0">
                <a:solidFill>
                  <a:srgbClr val="172033"/>
                </a:solidFill>
              </a:rPr>
              <a:t>matplotlib · pillow · h5py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2033"/>
                </a:solidFill>
              </a:defRPr>
            </a:pPr>
            <a:r>
              <a:rPr sz="2175" b="0">
                <a:solidFill>
                  <a:srgbClr val="172033"/>
                </a:solidFill>
              </a:rPr>
              <a:t>pyvista · vtk · imageio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2033"/>
                </a:solidFill>
              </a:defRPr>
            </a:pPr>
            <a:r>
              <a:rPr sz="2175" b="0">
                <a:solidFill>
                  <a:srgbClr val="172033"/>
                </a:solidFill>
              </a:rPr>
              <a:t>imageio-ffmpeg · ffmpeg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72033"/>
                </a:solidFill>
              </a:defRPr>
            </a:pPr>
            <a:r>
              <a:rPr sz="2175" b="0">
                <a:solidFill>
                  <a:srgbClr val="172033"/>
                </a:solidFill>
              </a:rPr>
              <a:t>pytest · ruff · openmpi</a:t>
            </a:r>
          </a:p>
        </p:txBody>
      </p:sp>
      <p:sp>
        <p:nvSpPr>
          <p:cNvPr id="6" name="env-rule">
            <a:extLst xmlns:a="http://schemas.openxmlformats.org/drawingml/2006/main">
              <a:ext uri="{FF2B5EF4-FFF2-40B4-BE49-F238E27FC236}">
                <a16:creationId xmlns:a16="http://schemas.microsoft.com/office/drawing/2014/main" id="{C9B7CB9D-99DD-4879-BF9A-56632B0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190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i-head">
            <a:extLst xmlns:a="http://schemas.openxmlformats.org/drawingml/2006/main">
              <a:ext uri="{FF2B5EF4-FFF2-40B4-BE49-F238E27FC236}">
                <a16:creationId xmlns:a16="http://schemas.microsoft.com/office/drawing/2014/main" id="{C460DC19-ED02-4E29-8398-236442D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62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2A7F8E"/>
                </a:solidFill>
              </a:defRPr>
            </a:pPr>
            <a:r>
              <a:rPr sz="2325" b="1">
                <a:solidFill>
                  <a:srgbClr val="2A7F8E"/>
                </a:solidFill>
              </a:rPr>
              <a:t>主运行</a:t>
            </a:r>
          </a:p>
        </p:txBody>
      </p:sp>
      <p:sp>
        <p:nvSpPr>
          <p:cNvPr id="8" name="cli-box">
            <a:extLst xmlns:a="http://schemas.openxmlformats.org/drawingml/2006/main">
              <a:ext uri="{FF2B5EF4-FFF2-40B4-BE49-F238E27FC236}">
                <a16:creationId xmlns:a16="http://schemas.microsoft.com/office/drawing/2014/main" id="{1F4490FE-1560-4786-A9B2-0B16EEBD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47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i">
            <a:extLst xmlns:a="http://schemas.openxmlformats.org/drawingml/2006/main">
              <a:ext uri="{FF2B5EF4-FFF2-40B4-BE49-F238E27FC236}">
                <a16:creationId xmlns:a16="http://schemas.microsoft.com/office/drawing/2014/main" id="{8FFED572-6060-4EA1-8334-869D9168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86000"/>
            <a:ext cx="6000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python -m spike_typeIII_visual.athena build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python -m spike_typeIII_visual.athena run …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python -m spike_typeIII_visual.main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--mhd-backend athena --athena-dataset bridge.h5</a:t>
            </a:r>
          </a:p>
        </p:txBody>
      </p:sp>
      <p:sp>
        <p:nvSpPr>
          <p:cNvPr id="10" name="media-head">
            <a:extLst xmlns:a="http://schemas.openxmlformats.org/drawingml/2006/main">
              <a:ext uri="{FF2B5EF4-FFF2-40B4-BE49-F238E27FC236}">
                <a16:creationId xmlns:a16="http://schemas.microsoft.com/office/drawing/2014/main" id="{5E6BBBE7-7927-4713-971D-C148F0F3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D97706"/>
                </a:solidFill>
              </a:defRPr>
            </a:pPr>
            <a:r>
              <a:rPr sz="2175" b="1">
                <a:solidFill>
                  <a:srgbClr val="D97706"/>
                </a:solidFill>
              </a:rPr>
              <a:t>交付媒体</a:t>
            </a:r>
          </a:p>
        </p:txBody>
      </p:sp>
      <p:sp>
        <p:nvSpPr>
          <p:cNvPr id="11" name="media">
            <a:extLst xmlns:a="http://schemas.openxmlformats.org/drawingml/2006/main">
              <a:ext uri="{FF2B5EF4-FFF2-40B4-BE49-F238E27FC236}">
                <a16:creationId xmlns:a16="http://schemas.microsoft.com/office/drawing/2014/main" id="{042A0AEF-14C4-4992-8B9C-382FE4A6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48200"/>
            <a:ext cx="6419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4 GIF + 4 H.264 MP4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960×540 · 10 fps · yuv420p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MPI 小案例无加速；Windows／RTX 4060 未实测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C5EA81-3786-418C-90F5-4B6D7AC3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B9783E1-61BD-442A-B36A-B7D8D63E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附录 · 环境与命令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324B38C-B1E3-4499-9507-DFB29B52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2697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3AFE6941-F25F-4C17-9115-65FFABAF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7F8E"/>
                </a:solidFill>
              </a:defRPr>
            </a:pPr>
            <a:r>
              <a:rPr sz="1275" b="1">
                <a:solidFill>
                  <a:srgbClr val="2A7F8E"/>
                </a:solidFill>
              </a:rPr>
              <a:t>附录 B · 可追溯性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D49939-F433-45CB-8AFA-001498DE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公式、源码与证据文件一一对应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B6FA428-F764-4965-B9AB-17CB09AB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l1">
            <a:extLst xmlns:a="http://schemas.openxmlformats.org/drawingml/2006/main">
              <a:ext uri="{FF2B5EF4-FFF2-40B4-BE49-F238E27FC236}">
                <a16:creationId xmlns:a16="http://schemas.microsoft.com/office/drawing/2014/main" id="{32BFA7CE-C3A6-4A2C-AE97-E527135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7F8E"/>
                </a:solidFill>
              </a:defRPr>
            </a:pPr>
            <a:r>
              <a:rPr sz="1950" b="1">
                <a:solidFill>
                  <a:srgbClr val="2A7F8E"/>
                </a:solidFill>
              </a:rPr>
              <a:t>理论／功能</a:t>
            </a:r>
          </a:p>
        </p:txBody>
      </p:sp>
      <p:sp>
        <p:nvSpPr>
          <p:cNvPr id="5" name="col2">
            <a:extLst xmlns:a="http://schemas.openxmlformats.org/drawingml/2006/main">
              <a:ext uri="{FF2B5EF4-FFF2-40B4-BE49-F238E27FC236}">
                <a16:creationId xmlns:a16="http://schemas.microsoft.com/office/drawing/2014/main" id="{541E31A4-A588-4BCA-9CEB-B18BD904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002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7F8E"/>
                </a:solidFill>
              </a:defRPr>
            </a:pPr>
            <a:r>
              <a:rPr sz="1950" b="1">
                <a:solidFill>
                  <a:srgbClr val="2A7F8E"/>
                </a:solidFill>
              </a:rPr>
              <a:t>源码</a:t>
            </a:r>
          </a:p>
        </p:txBody>
      </p:sp>
      <p:sp>
        <p:nvSpPr>
          <p:cNvPr id="6" name="col3">
            <a:extLst xmlns:a="http://schemas.openxmlformats.org/drawingml/2006/main">
              <a:ext uri="{FF2B5EF4-FFF2-40B4-BE49-F238E27FC236}">
                <a16:creationId xmlns:a16="http://schemas.microsoft.com/office/drawing/2014/main" id="{3CB14556-A5FC-419E-86D0-1ABF707C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00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7F8E"/>
                </a:solidFill>
              </a:defRPr>
            </a:pPr>
            <a:r>
              <a:rPr sz="1950" b="1">
                <a:solidFill>
                  <a:srgbClr val="2A7F8E"/>
                </a:solidFill>
              </a:rPr>
              <a:t>证据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ABB62F0-A0AB-4917-BD44-60BFFBD7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0c1">
            <a:extLst xmlns:a="http://schemas.openxmlformats.org/drawingml/2006/main">
              <a:ext uri="{FF2B5EF4-FFF2-40B4-BE49-F238E27FC236}">
                <a16:creationId xmlns:a16="http://schemas.microsoft.com/office/drawing/2014/main" id="{D71E3A49-D448-4117-A017-EA93077D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full-MHD / CTU / CT</a:t>
            </a:r>
          </a:p>
        </p:txBody>
      </p:sp>
      <p:sp>
        <p:nvSpPr>
          <p:cNvPr id="9" name="r0c2">
            <a:extLst xmlns:a="http://schemas.openxmlformats.org/drawingml/2006/main">
              <a:ext uri="{FF2B5EF4-FFF2-40B4-BE49-F238E27FC236}">
                <a16:creationId xmlns:a16="http://schemas.microsoft.com/office/drawing/2014/main" id="{8A0906A8-4A3D-4891-8E5B-70B58BDC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09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Athena-Cversion/src/prob/</a:t>
            </a:r>
          </a:p>
        </p:txBody>
      </p:sp>
      <p:sp>
        <p:nvSpPr>
          <p:cNvPr id="10" name="r0c3">
            <a:extLst xmlns:a="http://schemas.openxmlformats.org/drawingml/2006/main">
              <a:ext uri="{FF2B5EF4-FFF2-40B4-BE49-F238E27FC236}">
                <a16:creationId xmlns:a16="http://schemas.microsoft.com/office/drawing/2014/main" id="{A8382977-2E5D-47E1-A02A-C6D68819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09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mhd_bridge.h5</a:t>
            </a:r>
          </a:p>
        </p:txBody>
      </p:sp>
      <p:sp>
        <p:nvSpPr>
          <p:cNvPr id="11" name="row-rule-0">
            <a:extLst xmlns:a="http://schemas.openxmlformats.org/drawingml/2006/main">
              <a:ext uri="{FF2B5EF4-FFF2-40B4-BE49-F238E27FC236}">
                <a16:creationId xmlns:a16="http://schemas.microsoft.com/office/drawing/2014/main" id="{9252ED26-DEB7-4279-92B2-D95069CC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1c1">
            <a:extLst xmlns:a="http://schemas.openxmlformats.org/drawingml/2006/main">
              <a:ext uri="{FF2B5EF4-FFF2-40B4-BE49-F238E27FC236}">
                <a16:creationId xmlns:a16="http://schemas.microsoft.com/office/drawing/2014/main" id="{02A2D2F9-AE90-46E9-85F3-35890F70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jet 区域与 onset</a:t>
            </a:r>
          </a:p>
        </p:txBody>
      </p:sp>
      <p:sp>
        <p:nvSpPr>
          <p:cNvPr id="13" name="r1c2">
            <a:extLst xmlns:a="http://schemas.openxmlformats.org/drawingml/2006/main">
              <a:ext uri="{FF2B5EF4-FFF2-40B4-BE49-F238E27FC236}">
                <a16:creationId xmlns:a16="http://schemas.microsoft.com/office/drawing/2014/main" id="{556D8AA3-6DF4-4191-B9AC-10031BE6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physics/jet.py</a:t>
            </a:r>
          </a:p>
        </p:txBody>
      </p:sp>
      <p:sp>
        <p:nvSpPr>
          <p:cNvPr id="14" name="r1c3">
            <a:extLst xmlns:a="http://schemas.openxmlformats.org/drawingml/2006/main">
              <a:ext uri="{FF2B5EF4-FFF2-40B4-BE49-F238E27FC236}">
                <a16:creationId xmlns:a16="http://schemas.microsoft.com/office/drawing/2014/main" id="{8BA9126F-2944-48F2-9378-ACF50448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jet_diagnostics.png</a:t>
            </a:r>
          </a:p>
        </p:txBody>
      </p:sp>
      <p:sp>
        <p:nvSpPr>
          <p:cNvPr id="15" name="row-rule-1">
            <a:extLst xmlns:a="http://schemas.openxmlformats.org/drawingml/2006/main">
              <a:ext uri="{FF2B5EF4-FFF2-40B4-BE49-F238E27FC236}">
                <a16:creationId xmlns:a16="http://schemas.microsoft.com/office/drawing/2014/main" id="{DF52307C-C103-4177-A01E-D6564175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2c1">
            <a:extLst xmlns:a="http://schemas.openxmlformats.org/drawingml/2006/main">
              <a:ext uri="{FF2B5EF4-FFF2-40B4-BE49-F238E27FC236}">
                <a16:creationId xmlns:a16="http://schemas.microsoft.com/office/drawing/2014/main" id="{DBC6088C-010B-47CC-B205-564B50BE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Type III / spike</a:t>
            </a:r>
          </a:p>
        </p:txBody>
      </p:sp>
      <p:sp>
        <p:nvSpPr>
          <p:cNvPr id="17" name="r2c2">
            <a:extLst xmlns:a="http://schemas.openxmlformats.org/drawingml/2006/main">
              <a:ext uri="{FF2B5EF4-FFF2-40B4-BE49-F238E27FC236}">
                <a16:creationId xmlns:a16="http://schemas.microsoft.com/office/drawing/2014/main" id="{42374160-130A-49F6-83C3-6C2EA7B2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physics/radio.py</a:t>
            </a:r>
          </a:p>
        </p:txBody>
      </p:sp>
      <p:sp>
        <p:nvSpPr>
          <p:cNvPr id="18" name="r2c3">
            <a:extLst xmlns:a="http://schemas.openxmlformats.org/drawingml/2006/main">
              <a:ext uri="{FF2B5EF4-FFF2-40B4-BE49-F238E27FC236}">
                <a16:creationId xmlns:a16="http://schemas.microsoft.com/office/drawing/2014/main" id="{20A927B6-8961-41BD-9547-BB40C0B8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90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typeIII_dynamic_spectrum.png</a:t>
            </a:r>
          </a:p>
        </p:txBody>
      </p:sp>
      <p:sp>
        <p:nvSpPr>
          <p:cNvPr id="1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58D7507-B740-4DF8-9537-ABDF83F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3c1">
            <a:extLst xmlns:a="http://schemas.openxmlformats.org/drawingml/2006/main">
              <a:ext uri="{FF2B5EF4-FFF2-40B4-BE49-F238E27FC236}">
                <a16:creationId xmlns:a16="http://schemas.microsoft.com/office/drawing/2014/main" id="{CD0E881E-B079-4E8A-889D-B7A1683C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BIN 桥接与收敛</a:t>
            </a:r>
          </a:p>
        </p:txBody>
      </p:sp>
      <p:sp>
        <p:nvSpPr>
          <p:cNvPr id="21" name="r3c2">
            <a:extLst xmlns:a="http://schemas.openxmlformats.org/drawingml/2006/main">
              <a:ext uri="{FF2B5EF4-FFF2-40B4-BE49-F238E27FC236}">
                <a16:creationId xmlns:a16="http://schemas.microsoft.com/office/drawing/2014/main" id="{735C9B17-F2E8-44E1-B7B2-E11B209A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814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athena_io.py</a:t>
            </a:r>
          </a:p>
        </p:txBody>
      </p:sp>
      <p:sp>
        <p:nvSpPr>
          <p:cNvPr id="22" name="r3c3">
            <a:extLst xmlns:a="http://schemas.openxmlformats.org/drawingml/2006/main">
              <a:ext uri="{FF2B5EF4-FFF2-40B4-BE49-F238E27FC236}">
                <a16:creationId xmlns:a16="http://schemas.microsoft.com/office/drawing/2014/main" id="{7A2BBF39-B066-40C7-AF1A-2E6C4321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81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RESULTS.md</a:t>
            </a:r>
          </a:p>
        </p:txBody>
      </p:sp>
      <p:sp>
        <p:nvSpPr>
          <p:cNvPr id="23" name="row-rule-3">
            <a:extLst xmlns:a="http://schemas.openxmlformats.org/drawingml/2006/main">
              <a:ext uri="{FF2B5EF4-FFF2-40B4-BE49-F238E27FC236}">
                <a16:creationId xmlns:a16="http://schemas.microsoft.com/office/drawing/2014/main" id="{553133F3-F0FD-4DF4-A812-0E5A9F2D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4c1">
            <a:extLst xmlns:a="http://schemas.openxmlformats.org/drawingml/2006/main">
              <a:ext uri="{FF2B5EF4-FFF2-40B4-BE49-F238E27FC236}">
                <a16:creationId xmlns:a16="http://schemas.microsoft.com/office/drawing/2014/main" id="{A274B9B9-33B5-4070-BDD6-6E13187C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结构与摘要校验</a:t>
            </a:r>
          </a:p>
        </p:txBody>
      </p:sp>
      <p:sp>
        <p:nvSpPr>
          <p:cNvPr id="25" name="r4c2">
            <a:extLst xmlns:a="http://schemas.openxmlformats.org/drawingml/2006/main">
              <a:ext uri="{FF2B5EF4-FFF2-40B4-BE49-F238E27FC236}">
                <a16:creationId xmlns:a16="http://schemas.microsoft.com/office/drawing/2014/main" id="{BE0262BA-DCF8-43E8-9525-7191A0E4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72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validate_outputs.py</a:t>
            </a:r>
          </a:p>
        </p:txBody>
      </p:sp>
      <p:sp>
        <p:nvSpPr>
          <p:cNvPr id="26" name="r4c3">
            <a:extLst xmlns:a="http://schemas.openxmlformats.org/drawingml/2006/main">
              <a:ext uri="{FF2B5EF4-FFF2-40B4-BE49-F238E27FC236}">
                <a16:creationId xmlns:a16="http://schemas.microsoft.com/office/drawing/2014/main" id="{CC3738BA-6677-4F65-AB6F-B200908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720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validation_report.json</a:t>
            </a:r>
          </a:p>
        </p:txBody>
      </p:sp>
      <p:sp>
        <p:nvSpPr>
          <p:cNvPr id="27" name="row-rule-4">
            <a:extLst xmlns:a="http://schemas.openxmlformats.org/drawingml/2006/main">
              <a:ext uri="{FF2B5EF4-FFF2-40B4-BE49-F238E27FC236}">
                <a16:creationId xmlns:a16="http://schemas.microsoft.com/office/drawing/2014/main" id="{0D670364-AD5A-466C-AEB9-548AE413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fs">
            <a:extLst xmlns:a="http://schemas.openxmlformats.org/drawingml/2006/main">
              <a:ext uri="{FF2B5EF4-FFF2-40B4-BE49-F238E27FC236}">
                <a16:creationId xmlns:a16="http://schemas.microsoft.com/office/drawing/2014/main" id="{50FCFF15-016D-4F73-A4F1-510E7E95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fs-text">
            <a:extLst xmlns:a="http://schemas.openxmlformats.org/drawingml/2006/main">
              <a:ext uri="{FF2B5EF4-FFF2-40B4-BE49-F238E27FC236}">
                <a16:creationId xmlns:a16="http://schemas.microsoft.com/office/drawing/2014/main" id="{61A90AC0-C386-49BB-8C39-72C82AAC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0B2545"/>
                </a:solidFill>
              </a:defRPr>
            </a:pPr>
            <a:r>
              <a:rPr sz="1725" b="0">
                <a:solidFill>
                  <a:srgbClr val="0B2545"/>
                </a:solidFill>
              </a:rPr>
              <a:t>理论参考：陈耀《等离子体物理学基础》(2019)；Harris (1962)；Furth et al. (1963)；Reid &amp; Ratcliffe (2014)。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E264AAE-EA37-4A48-B961-A307E765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75AA656-2178-4B47-B301-93D04E67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附录 · 公式—源码—证据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20D0F5E-FD35-4861-90E3-79A1A635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627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379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2026-07-28T03:29:12.5060000Z</dcterms:created>
  <dcterms:modified xsi:type="dcterms:W3CDTF">2026-07-28T03:29:12.5060000Z</dcterms:modified>
</coreProperties>
</file>