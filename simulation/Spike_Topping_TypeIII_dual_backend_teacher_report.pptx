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fd37e040454f43" /><Relationship Type="http://schemas.openxmlformats.org/officeDocument/2006/relationships/extended-properties" Target="/docProps/app.xml" Id="R69f8fddfe97a4d07" /><Relationship Type="http://schemas.openxmlformats.org/officeDocument/2006/relationships/officeDocument" Target="/ppt/presentation.xml" Id="R4f1a82d349d74e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4d02ab07114a32"/>
  </p:sldMasterIdLst>
  <p:notesMasterIdLst>
    <p:notesMasterId xmlns:r="http://schemas.openxmlformats.org/officeDocument/2006/relationships" r:id="R4b96be3a3abf4664"/>
  </p:notesMasterIdLst>
  <p:sldIdLst>
    <p:sldId xmlns:r="http://schemas.openxmlformats.org/officeDocument/2006/relationships" id="256" r:id="R9622f833df954529"/>
    <p:sldId xmlns:r="http://schemas.openxmlformats.org/officeDocument/2006/relationships" id="257" r:id="Ra59054709a26404b"/>
    <p:sldId xmlns:r="http://schemas.openxmlformats.org/officeDocument/2006/relationships" id="258" r:id="Rb14e5e40d397414d"/>
    <p:sldId xmlns:r="http://schemas.openxmlformats.org/officeDocument/2006/relationships" id="259" r:id="Redc63ea3ac4d4d13"/>
    <p:sldId xmlns:r="http://schemas.openxmlformats.org/officeDocument/2006/relationships" id="260" r:id="R1308403a839c4865"/>
    <p:sldId xmlns:r="http://schemas.openxmlformats.org/officeDocument/2006/relationships" id="261" r:id="Rc07ed85ef02446a8"/>
    <p:sldId xmlns:r="http://schemas.openxmlformats.org/officeDocument/2006/relationships" id="262" r:id="Rfee4e3b162e04643"/>
    <p:sldId xmlns:r="http://schemas.openxmlformats.org/officeDocument/2006/relationships" id="263" r:id="R858a1c1b2b46404b"/>
    <p:sldId xmlns:r="http://schemas.openxmlformats.org/officeDocument/2006/relationships" id="264" r:id="R4cb5d1b0a02a4a6a"/>
    <p:sldId xmlns:r="http://schemas.openxmlformats.org/officeDocument/2006/relationships" id="265" r:id="Rf61ff1dfe738488b"/>
    <p:sldId xmlns:r="http://schemas.openxmlformats.org/officeDocument/2006/relationships" id="266" r:id="R4bf691f5dd17430c"/>
    <p:sldId xmlns:r="http://schemas.openxmlformats.org/officeDocument/2006/relationships" id="267" r:id="Rfe27adca24a5487e"/>
    <p:sldId xmlns:r="http://schemas.openxmlformats.org/officeDocument/2006/relationships" id="268" r:id="R3a9dbb99377b49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346fd076954e61" /><Relationship Type="http://schemas.openxmlformats.org/officeDocument/2006/relationships/slideMaster" Target="/ppt/slideMasters/slideMaster1.xml" Id="Rd94d02ab07114a32" /><Relationship Type="http://schemas.openxmlformats.org/officeDocument/2006/relationships/notesMaster" Target="/ppt/notesMasters/notesMaster1.xml" Id="R4b96be3a3abf4664" /><Relationship Type="http://schemas.openxmlformats.org/officeDocument/2006/relationships/presProps" Target="/ppt/presProps.xml" Id="Rd9efecf9a4e44ece" /><Relationship Type="http://schemas.openxmlformats.org/officeDocument/2006/relationships/tableStyles" Target="/ppt/tableStyles.xml" Id="R9b4b5d15e2c74583" /><Relationship Type="http://schemas.openxmlformats.org/officeDocument/2006/relationships/slide" Target="/ppt/slides/slide1.xml" Id="R9622f833df954529" /><Relationship Type="http://schemas.openxmlformats.org/officeDocument/2006/relationships/slide" Target="/ppt/slides/slide2.xml" Id="Ra59054709a26404b" /><Relationship Type="http://schemas.openxmlformats.org/officeDocument/2006/relationships/slide" Target="/ppt/slides/slide3.xml" Id="Rb14e5e40d397414d" /><Relationship Type="http://schemas.openxmlformats.org/officeDocument/2006/relationships/slide" Target="/ppt/slides/slide4.xml" Id="Redc63ea3ac4d4d13" /><Relationship Type="http://schemas.openxmlformats.org/officeDocument/2006/relationships/slide" Target="/ppt/slides/slide5.xml" Id="R1308403a839c4865" /><Relationship Type="http://schemas.openxmlformats.org/officeDocument/2006/relationships/slide" Target="/ppt/slides/slide6.xml" Id="Rc07ed85ef02446a8" /><Relationship Type="http://schemas.openxmlformats.org/officeDocument/2006/relationships/slide" Target="/ppt/slides/slide7.xml" Id="Rfee4e3b162e04643" /><Relationship Type="http://schemas.openxmlformats.org/officeDocument/2006/relationships/slide" Target="/ppt/slides/slide8.xml" Id="R858a1c1b2b46404b" /><Relationship Type="http://schemas.openxmlformats.org/officeDocument/2006/relationships/slide" Target="/ppt/slides/slide9.xml" Id="R4cb5d1b0a02a4a6a" /><Relationship Type="http://schemas.openxmlformats.org/officeDocument/2006/relationships/slide" Target="/ppt/slides/slide10.xml" Id="Rf61ff1dfe738488b" /><Relationship Type="http://schemas.openxmlformats.org/officeDocument/2006/relationships/slide" Target="/ppt/slides/slide11.xml" Id="R4bf691f5dd17430c" /><Relationship Type="http://schemas.openxmlformats.org/officeDocument/2006/relationships/slide" Target="/ppt/slides/slide12.xml" Id="Rfe27adca24a5487e" /><Relationship Type="http://schemas.openxmlformats.org/officeDocument/2006/relationships/slide" Target="/ppt/slides/slide13.xml" Id="R3a9dbb99377b49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86d52ec2ad41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128a077024910" /><Relationship Type="http://schemas.openxmlformats.org/officeDocument/2006/relationships/notesMaster" Target="/ppt/notesMasters/notesMaster1.xml" Id="R434d08c26b0049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f9722bffcb4d5b" /><Relationship Type="http://schemas.openxmlformats.org/officeDocument/2006/relationships/notesMaster" Target="/ppt/notesMasters/notesMaster1.xml" Id="R5d9793af1ef8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79c3048891428e" /><Relationship Type="http://schemas.openxmlformats.org/officeDocument/2006/relationships/notesMaster" Target="/ppt/notesMasters/notesMaster1.xml" Id="R836eacbe630140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3390a8c5844747" /><Relationship Type="http://schemas.openxmlformats.org/officeDocument/2006/relationships/notesMaster" Target="/ppt/notesMasters/notesMaster1.xml" Id="R321b0f984fc7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e115e040f646af" /><Relationship Type="http://schemas.openxmlformats.org/officeDocument/2006/relationships/notesMaster" Target="/ppt/notesMasters/notesMaster1.xml" Id="R1301f256909045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bcd260b7445be" /><Relationship Type="http://schemas.openxmlformats.org/officeDocument/2006/relationships/notesMaster" Target="/ppt/notesMasters/notesMaster1.xml" Id="R02fb4328f81847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0d3beea46d416f" /><Relationship Type="http://schemas.openxmlformats.org/officeDocument/2006/relationships/notesMaster" Target="/ppt/notesMasters/notesMaster1.xml" Id="Rb36824dde38a4b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090f56018e4398" /><Relationship Type="http://schemas.openxmlformats.org/officeDocument/2006/relationships/notesMaster" Target="/ppt/notesMasters/notesMaster1.xml" Id="Rf321db1b704446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23c3e3919b485b" /><Relationship Type="http://schemas.openxmlformats.org/officeDocument/2006/relationships/notesMaster" Target="/ppt/notesMasters/notesMaster1.xml" Id="Rc1fb7d3b413d43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fd7344752042b5" /><Relationship Type="http://schemas.openxmlformats.org/officeDocument/2006/relationships/notesMaster" Target="/ppt/notesMasters/notesMaster1.xml" Id="R0584bd9d84ad49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8f619cf18b4963" /><Relationship Type="http://schemas.openxmlformats.org/officeDocument/2006/relationships/notesMaster" Target="/ppt/notesMasters/notesMaster1.xml" Id="Rfc243c65351c4b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035472a01c450e" /><Relationship Type="http://schemas.openxmlformats.org/officeDocument/2006/relationships/notesMaster" Target="/ppt/notesMasters/notesMaster1.xml" Id="Rd99244c1eeb842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8c69ec4a9c479d" /><Relationship Type="http://schemas.openxmlformats.org/officeDocument/2006/relationships/notesMaster" Target="/ppt/notesMasters/notesMaster1.xml" Id="R5e595bd61b06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simulation/README.md, sections 18–19.</a:t>
            </a:r>
          </a:p>
          <a:p xmlns:a="http://schemas.openxmlformats.org/drawingml/2006/main">
            <a:r>
              <a:t>- simulation/RESULTS.md, sections 1–13.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Historical figure: spike_typeIII_visual/outputs/runs/athena_physical_jet_seed20260726/figures/typeIII_keyframes.png.</a:t>
            </a:r>
          </a:p>
          <a:p xmlns:a="http://schemas.openxmlformats.org/drawingml/2006/main">
            <a:r>
              <a:t>- simulation/README.md, sections 2 and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simulation/README.md, sections 2.2, 18.10–18.13, and 19.6.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Historical figure: spike_typeIII_visual/outputs/runs/athena_physical_jet_seed20260726/figures/harris_field.png.</a:t>
            </a:r>
          </a:p>
          <a:p xmlns:a="http://schemas.openxmlformats.org/drawingml/2006/main">
            <a:r>
              <a:t>- Stone et al. (2008), Athena: A New Code for Astrophysical MHD, arXiv:0804.0402.</a:t>
            </a:r>
          </a:p>
          <a:p xmlns:a="http://schemas.openxmlformats.org/drawingml/2006/main">
            <a:r>
              <a:t>- simulation/README.md, section 19.3–19.4 and 19.11.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MPI-AMRVAC official documentation: https://amrvac.org/doc-contents.html.</a:t>
            </a:r>
          </a:p>
          <a:p xmlns:a="http://schemas.openxmlformats.org/drawingml/2006/main">
            <a:r>
              <a:t>- simulation/README.md, sections 19.1 and 19.7.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simulation/configs/dual_backend_2p5d_solar_jet.yaml.</a:t>
            </a:r>
          </a:p>
          <a:p xmlns:a="http://schemas.openxmlformats.org/drawingml/2006/main">
            <a:r>
              <a:t>- simulation/README.md, sections 18.7–18.9 and 19.3–19.4.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Historical figure: spike_typeIII_visual/outputs/runs/athena_physical_jet_seed20260726/figures/mhd_diagnostics.png.</a:t>
            </a:r>
          </a:p>
          <a:p xmlns:a="http://schemas.openxmlformats.org/drawingml/2006/main">
            <a:r>
              <a:t>- simulation/RESULTS.md, historical Athena v3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Historical figures: jet_structure.png and jet_diagnostics.png from the verified Athena v3 run.</a:t>
            </a:r>
          </a:p>
          <a:p xmlns:a="http://schemas.openxmlformats.org/drawingml/2006/main">
            <a:r>
              <a:t>- simulation/README.md, sections 18.10 and 19.6.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Historical figure: activity_timeline.png from the verified Athena v3 run.</a:t>
            </a:r>
          </a:p>
          <a:p xmlns:a="http://schemas.openxmlformats.org/drawingml/2006/main">
            <a:r>
              <a:t>- simulation/README.md, sections 7.5, 9, and 19.6.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Historical figure: typeIII_dynamic_spectrum.png from the verified Athena v3 run.</a:t>
            </a:r>
          </a:p>
          <a:p xmlns:a="http://schemas.openxmlformats.org/drawingml/2006/main">
            <a:r>
              <a:t>- simulation/RESULTS.md, historical Athena v3 strict-topping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simulation/RESULTS.md, section 13.</a:t>
            </a:r>
          </a:p>
          <a:p xmlns:a="http://schemas.openxmlformats.org/drawingml/2006/main">
            <a:r>
              <a:t>- simulation/README.md, section 19.9.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simulation/environment.solar-simulation.yml.</a:t>
            </a:r>
          </a:p>
          <a:p xmlns:a="http://schemas.openxmlformats.org/drawingml/2006/main">
            <a:r>
              <a:t>- simulation/README.md, sections 14 and 19.7–19.8.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Stone et al. (2008), https://arxiv.org/abs/0804.0402.</a:t>
            </a:r>
          </a:p>
          <a:p xmlns:a="http://schemas.openxmlformats.org/drawingml/2006/main">
            <a:r>
              <a:t>- MPI-AMRVAC official documentation, https://amrvac.org/doc-contents.html.</a:t>
            </a:r>
          </a:p>
          <a:p xmlns:a="http://schemas.openxmlformats.org/drawingml/2006/main">
            <a:r>
              <a:t>- Chen Yao (2019), Foundations of Plasma Physics, Science Press, ISBN 978-7-03-061388-2.</a:t>
            </a:r>
          </a:p>
          <a:p xmlns:a="http://schemas.openxmlformats.org/drawingml/2006/main">
            <a:r>
              <a:t>- simulation/README.md, section 19.10.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87dd5367a44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1249e4f08a441e" /><Relationship Type="http://schemas.openxmlformats.org/officeDocument/2006/relationships/slideLayout" Target="/ppt/slideLayouts/slideLayout1.xml" Id="R0698e2ef35534b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8e2ef35534b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c709dbb6e4c34" /><Relationship Type="http://schemas.openxmlformats.org/officeDocument/2006/relationships/notesSlide" Target="/ppt/notesSlides/notesSlide1.xml" Id="R7c96e89363294f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4b178f32b4de9" /><Relationship Type="http://schemas.openxmlformats.org/officeDocument/2006/relationships/image" Target="/ppt/media/image.png" Id="R6bd1a3d34cf448bb" /><Relationship Type="http://schemas.openxmlformats.org/officeDocument/2006/relationships/notesSlide" Target="/ppt/notesSlides/notesSlide2.xml" Id="R8c7530fa7e43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850b8fc3140c1" /><Relationship Type="http://schemas.openxmlformats.org/officeDocument/2006/relationships/notesSlide" Target="/ppt/notesSlides/notesSlide3.xml" Id="Rae6b76db667b4c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dd622fee74b7d" /><Relationship Type="http://schemas.openxmlformats.org/officeDocument/2006/relationships/image" Target="/ppt/media/image2.png" Id="R5a371fee1e614577" /><Relationship Type="http://schemas.openxmlformats.org/officeDocument/2006/relationships/notesSlide" Target="/ppt/notesSlides/notesSlide4.xml" Id="R2ffae829064a41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78f0dd2b344b1" /><Relationship Type="http://schemas.openxmlformats.org/officeDocument/2006/relationships/notesSlide" Target="/ppt/notesSlides/notesSlide5.xml" Id="Rddc1e5f7a71d4f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a8619f59d45dc" /><Relationship Type="http://schemas.openxmlformats.org/officeDocument/2006/relationships/notesSlide" Target="/ppt/notesSlides/notesSlide6.xml" Id="R7b6f457ca8f74a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41e19f77f4cb3" /><Relationship Type="http://schemas.openxmlformats.org/officeDocument/2006/relationships/image" Target="/ppt/media/image3.png" Id="Rde16e79059254c6d" /><Relationship Type="http://schemas.openxmlformats.org/officeDocument/2006/relationships/notesSlide" Target="/ppt/notesSlides/notesSlide7.xml" Id="Rb1737a954fbf4f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7bf718d934f7e" /><Relationship Type="http://schemas.openxmlformats.org/officeDocument/2006/relationships/image" Target="/ppt/media/image4.png" Id="R4c7ae949080b49f9" /><Relationship Type="http://schemas.openxmlformats.org/officeDocument/2006/relationships/image" Target="/ppt/media/image5.png" Id="R2d24031b7fd347a3" /><Relationship Type="http://schemas.openxmlformats.org/officeDocument/2006/relationships/notesSlide" Target="/ppt/notesSlides/notesSlide8.xml" Id="Red079e575f654d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19e13c5484c04" /><Relationship Type="http://schemas.openxmlformats.org/officeDocument/2006/relationships/image" Target="/ppt/media/image6.png" Id="R115759c437554243" /><Relationship Type="http://schemas.openxmlformats.org/officeDocument/2006/relationships/notesSlide" Target="/ppt/notesSlides/notesSlide9.xml" Id="Rb83d2face8be45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c8a2694eb4585" /><Relationship Type="http://schemas.openxmlformats.org/officeDocument/2006/relationships/image" Target="/ppt/media/image7.png" Id="R6d723c4860f846a0" /><Relationship Type="http://schemas.openxmlformats.org/officeDocument/2006/relationships/notesSlide" Target="/ppt/notesSlides/notesSlide10.xml" Id="R260b1679a2cd46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2febc2c504894" /><Relationship Type="http://schemas.openxmlformats.org/officeDocument/2006/relationships/notesSlide" Target="/ppt/notesSlides/notesSlide11.xml" Id="R62a1364b4c6c48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25b9618764112" /><Relationship Type="http://schemas.openxmlformats.org/officeDocument/2006/relationships/notesSlide" Target="/ppt/notesSlides/notesSlide12.xml" Id="R40408a7a7d0143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b74d542747f3" /><Relationship Type="http://schemas.openxmlformats.org/officeDocument/2006/relationships/notesSlide" Target="/ppt/notesSlides/notesSlide13.xml" Id="R0ce13216084142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D8B7F-1CDE-442E-AA14-68D9EB94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EAF5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71E9C-3B99-4561-BB19-4A29E4A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394"/>
                </a:solidFill>
              </a:defRPr>
            </a:pPr>
            <a:r>
              <a:rPr sz="1200" b="1">
                <a:solidFill>
                  <a:srgbClr val="2A8394"/>
                </a:solidFill>
              </a:rPr>
              <a:t>教师汇报 · 12–15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7957-3F7E-4CAD-9B1C-C8184D82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E2841"/>
                </a:solidFill>
              </a:defRPr>
            </a:pPr>
            <a:r>
              <a:rPr sz="4050" b="1">
                <a:solidFill>
                  <a:srgbClr val="0E2841"/>
                </a:solidFill>
              </a:rPr>
              <a:t>Spike-Topping Type 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889B5-6525-4D3B-B0DB-B1F6F40F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5B"/>
                </a:solidFill>
              </a:defRPr>
            </a:pPr>
            <a:r>
              <a:rPr sz="3000" b="1">
                <a:solidFill>
                  <a:srgbClr val="153B5B"/>
                </a:solidFill>
              </a:rPr>
              <a:t>Athena 4.2 + MPI-AMRVAC 双后端增强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F77B6-9EAF-4DEE-B838-D3DB29B9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041C1-2607-47D6-82EE-74FD66E8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研究问题：如何用独立 MHD 后端检验“重联—全局 jet—电子束—起始高频 spike”的条件链？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47966-2651-42B3-A1C0-4029615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307E7-7428-4795-A2D7-7C4B7229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A52"/>
                </a:solidFill>
              </a:defRPr>
            </a:pPr>
            <a:r>
              <a:rPr sz="1350" b="1">
                <a:solidFill>
                  <a:srgbClr val="247A52"/>
                </a:solidFill>
              </a:rPr>
              <a:t>历史基线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B913A-B9F1-4D73-9B95-1845C8E0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2841"/>
                </a:solidFill>
              </a:defRPr>
            </a:pPr>
            <a:r>
              <a:rPr sz="2175" b="1">
                <a:solidFill>
                  <a:srgbClr val="0E2841"/>
                </a:solidFill>
              </a:rPr>
              <a:t>Athena v3 已验证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9BB4C-7CBA-454F-A49C-5F49368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561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5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B5286-95AE-415E-8644-60861611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72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本轮状态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32FBF-604E-47C6-A60E-5E16F78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339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2841"/>
                </a:solidFill>
              </a:defRPr>
            </a:pPr>
            <a:r>
              <a:rPr sz="2025" b="1">
                <a:solidFill>
                  <a:srgbClr val="0E2841"/>
                </a:solidFill>
              </a:rPr>
              <a:t>软件链路通过；物理门槛未通过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FF968-B540-4D56-9DCD-F580F300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B7A"/>
                </a:solidFill>
              </a:defRPr>
            </a:pPr>
            <a:r>
              <a:rPr sz="1275" b="0">
                <a:solidFill>
                  <a:srgbClr val="5B6B7A"/>
                </a:solidFill>
              </a:rPr>
              <a:t>不运行 600 s · 不形成新科学结论</a:t>
            </a:r>
          </a:p>
        </p:txBody>
      </p:sp>
    </p:spTree>
    <p:extLst>
      <p:ext uri="{BB962C8B-B14F-4D97-AF65-F5344CB8AC3E}">
        <p14:creationId xmlns:p14="http://schemas.microsoft.com/office/powerpoint/2010/main" val="9682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D6968-FC1B-4880-AE2E-694EF805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ECA61-A075-4A6F-A7EB-63343BC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为何关注 jet 同期的起始高频 spikes？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37405-DBED-453B-9F46-17DA15B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9436D-7388-4982-9206-53347199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E0745-B98D-4D94-AD34-7104031D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5791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1a3d34cf448bb"/>
          <a:stretch xmlns:a="http://schemas.openxmlformats.org/drawingml/2006/main"/>
        </p:blipFill>
        <p:spPr>
          <a:xfrm xmlns:a="http://schemas.openxmlformats.org/drawingml/2006/main">
            <a:off x="666750" y="1831181"/>
            <a:ext cx="5715000" cy="3214688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E00C7-3128-4560-A200-5D131C6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28C00-B22E-4E8E-9456-7403F87F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历史 Athena v3 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81262-2CCA-4C6B-8CDA-668989D2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19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06FDC-E637-4C3C-B380-9576A103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Type III 给出向外传播电子束的快速射电时标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C3F23-ED8C-4BC4-A176-824614F9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EE5E3-CB61-4FEB-8C81-D2905F7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起始端高频 spike 可能约束加速区与注入时刻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226DD-880C-43D2-86DA-2F379B95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C1BD0-AAD2-4543-A555-3745E302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jet 同期性比“画出 spike”更可证伪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B773E-677F-48EA-96DB-FF80611F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5BBDF-CD62-4477-AC81-F3B656DA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672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目标是条件化前向模型，不是事件反演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9908E-9D6E-4339-9482-1A8BE871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572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B4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A4293-2317-485B-BED8-E9197B04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2925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核心判据：t∈起始窗，且 Δf=fspike−fIII(t)&gt;0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DE48B-3E45-4A8D-9123-AB84B1BB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3CFAD-D59D-4D4A-84CE-FD1AAE5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C8D93-4261-421A-B83A-577CBF2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417873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AE76F1-87E2-46D7-A6AE-43759872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MODEL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65D63-EA90-4BFA-A418-C60F663B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MHD—jet—电子束—射电：哪些自洽，哪些是代理？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28B97-7803-4515-9E30-7323C17D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CD409-0CDF-40E2-88FC-629B8E7D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5DC4F-0D92-4481-8C20-71BF45D2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0E28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00387-5D5E-4886-ACFC-ED913A1D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2841"/>
                </a:solidFill>
              </a:defRPr>
            </a:pPr>
            <a:r>
              <a:rPr sz="1800" b="1">
                <a:solidFill>
                  <a:srgbClr val="0E2841"/>
                </a:solidFill>
              </a:rPr>
              <a:t>2.5D MHD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F2E52-30C7-468F-B27D-EB41C11C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A"/>
                </a:solidFill>
              </a:defRPr>
            </a:pPr>
            <a:r>
              <a:rPr sz="1350" b="0">
                <a:solidFill>
                  <a:srgbClr val="5B6B7A"/>
                </a:solidFill>
              </a:rPr>
              <a:t>ρ, p, v,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6955E-B4A7-4470-BFAC-B7FD01A3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2667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1A395-2CC1-4429-BEFA-98AD55DC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2A83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9AB60-ABD8-4573-974B-0C79378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241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8394"/>
                </a:solidFill>
              </a:defRPr>
            </a:pPr>
            <a:r>
              <a:rPr sz="1800" b="1">
                <a:solidFill>
                  <a:srgbClr val="2A8394"/>
                </a:solidFill>
              </a:rPr>
              <a:t>局地重联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FA8F5-51BF-47AC-9085-3DABA60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57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A"/>
                </a:solidFill>
              </a:defRPr>
            </a:pPr>
            <a:r>
              <a:rPr sz="1350" b="0">
                <a:solidFill>
                  <a:srgbClr val="5B6B7A"/>
                </a:solidFill>
              </a:rPr>
              <a:t>R(t), Ez(X)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B6558-739E-4955-A8F8-9975F92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71750"/>
            <a:ext cx="2667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4DAE4-DD73-4B3B-9634-00BE144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A6E3D-2E0D-4E83-A557-DC62001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全局 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A9F84-FA91-46AD-B747-6CD70E83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A"/>
                </a:solidFill>
              </a:defRPr>
            </a:pPr>
            <a:r>
              <a:rPr sz="1350" b="0">
                <a:solidFill>
                  <a:srgbClr val="5B6B7A"/>
                </a:solidFill>
              </a:rPr>
              <a:t>vglobal, height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CD1B8-5A20-4E56-958E-A9DCA94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667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4D7B1-716E-4297-AC34-4C17349A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7FC"/>
          </a:solidFill>
          <a:ln xmlns:a="http://schemas.openxmlformats.org/drawingml/2006/main" w="19050">
            <a:solidFill>
              <a:srgbClr val="7A5A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84633-26FF-46A1-A01A-9EE2CFC4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241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A5AA6"/>
                </a:solidFill>
              </a:defRPr>
            </a:pPr>
            <a:r>
              <a:rPr sz="1800" b="1">
                <a:solidFill>
                  <a:srgbClr val="7A5AA6"/>
                </a:solidFill>
              </a:rPr>
              <a:t>电子束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BD7C9-7DD5-484A-886B-9B94A2A8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57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A"/>
                </a:solidFill>
              </a:defRPr>
            </a:pPr>
            <a:r>
              <a:rPr sz="1350" b="0">
                <a:solidFill>
                  <a:srgbClr val="5B6B7A"/>
                </a:solidFill>
              </a:rPr>
              <a:t>kinematic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F0585-2E5C-4352-BADC-11E8817A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71750"/>
            <a:ext cx="2667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A01F4-B6A4-4BEF-A299-28C2F9C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7FC"/>
          </a:solidFill>
          <a:ln xmlns:a="http://schemas.openxmlformats.org/drawingml/2006/main" w="19050">
            <a:solidFill>
              <a:srgbClr val="247A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0DCBE-455B-4208-8ADE-2DEC0CDE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A52"/>
                </a:solidFill>
              </a:defRPr>
            </a:pPr>
            <a:r>
              <a:rPr sz="1800" b="1">
                <a:solidFill>
                  <a:srgbClr val="247A52"/>
                </a:solidFill>
              </a:rPr>
              <a:t>射电谱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57C9B-0499-4214-97C9-8C80508C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A"/>
                </a:solidFill>
              </a:defRPr>
            </a:pPr>
            <a:r>
              <a:rPr sz="1350" b="0">
                <a:solidFill>
                  <a:srgbClr val="5B6B7A"/>
                </a:solidFill>
              </a:rPr>
              <a:t>Type III + spikes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12526-AE06-47BE-9B33-B626A8F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628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6A286-896E-4BF8-8E48-804E56C7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7A52"/>
                </a:solidFill>
              </a:defRPr>
            </a:pPr>
            <a:r>
              <a:rPr sz="1650" b="1">
                <a:solidFill>
                  <a:srgbClr val="247A52"/>
                </a:solidFill>
              </a:rPr>
              <a:t>自洽层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16BE8-20F3-43B2-8DD3-211BBF1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MHD 守恒演化 · 磁重联代理 · 几何驱动的局地/全局 jet 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B8261-0DF5-40F1-BC9B-CEE8DC5A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4286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58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0B7D00-873C-4F75-A022-E69424E5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现象学层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135AD-05EF-4F1C-80E8-AB5A0A2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67250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电子注入、传播、辐射强度与 spike 不是 MHD 自动涌现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C5593-D05B-418B-86F8-3A4A250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8AF59-2073-4A00-8E96-8A5C796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C1A6E0-8AD4-4967-A7FF-B4BB7314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843629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25CFF-C074-498D-B72C-6197717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REFERENCE SOLVER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8C024-5050-4216-A2BC-2A76B6D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Athena 4.2：历史已验证基线与本轮修复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D2725-6952-43E8-AE19-1AF78604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D334C-CDF5-4E2C-BA75-23EDEDE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C5097-17C4-45BD-BBB7-46E36B63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5410200" cy="3457575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1fee1e614577"/>
          <a:stretch xmlns:a="http://schemas.openxmlformats.org/drawingml/2006/main"/>
        </p:blipFill>
        <p:spPr>
          <a:xfrm xmlns:a="http://schemas.openxmlformats.org/drawingml/2006/main">
            <a:off x="666750" y="1752600"/>
            <a:ext cx="5334000" cy="3000375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59281-8E54-4889-B216-395A03D4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FACAF-53EB-44C8-A289-7DC4120D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历史 v3 · 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0222F-5775-4C8E-825E-17F5C208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514350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83EC2-CCFC-4CE2-ADBF-A2F2735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2841"/>
                </a:solidFill>
              </a:defRPr>
            </a:pPr>
            <a:r>
              <a:rPr sz="1950" b="1">
                <a:solidFill>
                  <a:srgbClr val="0E2841"/>
                </a:solidFill>
              </a:rPr>
              <a:t>本轮 Athena 4.2 修复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DD3D4-EC6E-467C-A1C5-23FD30AA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9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394"/>
          </a:solidFill>
          <a:ln xmlns:a="http://schemas.openxmlformats.org/drawingml/2006/main" w="9525">
            <a:solidFill>
              <a:srgbClr val="2A83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7DAD1-DC41-433C-8344-8FC32561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210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静水平衡：逐单元积分 → 稳定闭式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92276-AE36-4332-A04B-AACC0BBB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394"/>
          </a:solidFill>
          <a:ln xmlns:a="http://schemas.openxmlformats.org/drawingml/2006/main" w="9525">
            <a:solidFill>
              <a:srgbClr val="2A839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C653E-E42C-43FE-A6DF-8E84B60B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4210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CASE=2：实际启用电流触发异常电阻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5AFC4-E3E5-4C0C-953C-0E053B02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394"/>
          </a:solidFill>
          <a:ln xmlns:a="http://schemas.openxmlformats.org/drawingml/2006/main" w="9525">
            <a:solidFill>
              <a:srgbClr val="2A839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BBDDC-4C1E-4C75-B2D1-91679A92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4210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2.5D 导热分母补入 Bz²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12CAD-8116-4DC2-A893-2E227265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394"/>
          </a:solidFill>
          <a:ln xmlns:a="http://schemas.openxmlformats.org/drawingml/2006/main" w="9525">
            <a:solidFill>
              <a:srgbClr val="2A839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F0911-D47B-46E5-A008-417F4DBD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10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底边磁场由同一矢势延拓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5156E-CD0C-4323-8FA8-506640B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394"/>
          </a:solidFill>
          <a:ln xmlns:a="http://schemas.openxmlformats.org/drawingml/2006/main" w="9525">
            <a:solidFill>
              <a:srgbClr val="2A839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42856-CA2C-4650-B299-9DDE7EBA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4210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源码指纹缓存、jobs/rebuild、日志去隐私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C7959-2820-4D85-A612-40E1B649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5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C4A30-9145-4265-9BA2-BD5C6BD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841"/>
                </a:solidFill>
              </a:defRPr>
            </a:pPr>
            <a:r>
              <a:rPr sz="1575" b="1">
                <a:solidFill>
                  <a:srgbClr val="0E2841"/>
                </a:solidFill>
              </a:rPr>
              <a:t>AddressSanitizer 发现并修复 get_eta_user 外层 ghost 越界；这属于软件正确性修复，不是科学结果。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309F8-1C5A-4214-B28A-A2352C2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26CF2-CB94-4F6C-AE0B-3D8420C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925A1-85BA-4C7D-9ECB-DAAA9C23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594149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BD558-4DB7-4302-98F7-B02A3A25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DUAL 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10E3F-A7AE-443C-AE92-9D993291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固定网格与 AMR 互补，而不是互相替代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CAD23-F867-4009-8C87-FAB777CA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1758A-9523-4FB6-BD88-32EADD02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DE8E5-0F8E-41A8-B2B4-425D25AC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476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0F5F9"/>
          </a:solidFill>
          <a:ln xmlns:a="http://schemas.openxmlformats.org/drawingml/2006/main" w="19050">
            <a:solidFill>
              <a:srgbClr val="153B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EAFA1-AA70-490D-8B2C-127B338E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2841"/>
                </a:solidFill>
              </a:defRPr>
            </a:pPr>
            <a:r>
              <a:rPr sz="2400" b="1">
                <a:solidFill>
                  <a:srgbClr val="0E2841"/>
                </a:solidFill>
              </a:rPr>
              <a:t>Athena 4.2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38A13-CDBB-410A-B226-F6E1099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D8C0A-09C1-4C43-99FC-0CFFF567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19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参考网格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440DD-E3DC-4E7F-95C0-EF4A831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B5B"/>
          </a:solidFill>
          <a:ln xmlns:a="http://schemas.openxmlformats.org/drawingml/2006/main" w="9525">
            <a:solidFill>
              <a:srgbClr val="153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E23A9-CD39-4177-940C-9947E92F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HLLD / CTU / 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8F2B6-FBE5-4C29-817A-97BAE66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B5B"/>
          </a:solidFill>
          <a:ln xmlns:a="http://schemas.openxmlformats.org/drawingml/2006/main" w="9525">
            <a:solidFill>
              <a:srgbClr val="153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1DFB7-860C-4C52-8E04-6B4A7FF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固定网格，可控离散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7667E-3A6F-4FF5-AAE3-4C0596B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B5B"/>
          </a:solidFill>
          <a:ln xmlns:a="http://schemas.openxmlformats.org/drawingml/2006/main" w="9525">
            <a:solidFill>
              <a:srgbClr val="153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DEC2A-F184-4DD7-BD08-8785A86C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v3 历史科学基线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42B99-DCEC-4D0C-B05A-52A5385D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B5B"/>
          </a:solidFill>
          <a:ln xmlns:a="http://schemas.openxmlformats.org/drawingml/2006/main" w="9525">
            <a:solidFill>
              <a:srgbClr val="153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FAFA9-F8C1-4064-B719-AB9264D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CT 无散门槛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3E6C3-0B9D-49BC-A0DC-6DD55A69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14500"/>
            <a:ext cx="4476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3F8F6"/>
          </a:solidFill>
          <a:ln xmlns:a="http://schemas.openxmlformats.org/drawingml/2006/main" w="19050">
            <a:solidFill>
              <a:srgbClr val="247A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B9D53-AD63-45F7-9F70-9C9AA435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7A52"/>
                </a:solidFill>
              </a:defRPr>
            </a:pPr>
            <a:r>
              <a:rPr sz="2400" b="1">
                <a:solidFill>
                  <a:srgbClr val="247A52"/>
                </a:solidFill>
              </a:rPr>
              <a:t>MPI-AMRVAC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25731-F2B6-4E9F-A154-63976B9A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EAF5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F43E7-B6E2-4A3E-A64E-6234E9E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394"/>
                </a:solidFill>
              </a:defRPr>
            </a:pPr>
            <a:r>
              <a:rPr sz="1200" b="1">
                <a:solidFill>
                  <a:srgbClr val="2A8394"/>
                </a:solidFill>
              </a:rPr>
              <a:t>独立交叉验证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84392-0ED3-48F1-8B08-E3FF16F1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9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52"/>
          </a:solidFill>
          <a:ln xmlns:a="http://schemas.openxmlformats.org/drawingml/2006/main" w="9525">
            <a:solidFill>
              <a:srgbClr val="247A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87F0D-7A06-4CB0-9AAA-E43DCCC8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HLLD / AMR / Powell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A772B-1394-49BF-B2D6-1A748BD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52"/>
          </a:solidFill>
          <a:ln xmlns:a="http://schemas.openxmlformats.org/drawingml/2006/main" w="9525">
            <a:solidFill>
              <a:srgbClr val="247A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81A11-EC76-46DC-8E6B-0A2C118F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局地细化与热物理路线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C695F-34BA-4843-B69C-DBAA34D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52"/>
          </a:solidFill>
          <a:ln xmlns:a="http://schemas.openxmlformats.org/drawingml/2006/main" w="9525">
            <a:solidFill>
              <a:srgbClr val="247A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EECA8-0D28-426B-BF74-9741D64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只读 vendor 复制构建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D86C8-66C6-4481-AF6F-4440E40C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81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52"/>
          </a:solidFill>
          <a:ln xmlns:a="http://schemas.openxmlformats.org/drawingml/2006/main" w="9525">
            <a:solidFill>
              <a:srgbClr val="247A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DD52D-D0F0-4E70-AA97-31097D8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148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当前仅开发 smoke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FB957-066C-4AA4-8621-B64DE578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89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1EAA5-CD55-4C16-BB50-16BF7F3D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099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schema v5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E5F15-17D5-42B1-B0E7-230C2E7A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721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2841"/>
                </a:solidFill>
              </a:defRPr>
            </a:pPr>
            <a:r>
              <a:rPr sz="1575" b="1">
                <a:solidFill>
                  <a:srgbClr val="0E2841"/>
                </a:solidFill>
              </a:rPr>
              <a:t>统一字段 · 单位 · 几何 · provenance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E40A39-24A2-452F-9D9E-45966A78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E50C30-F238-4127-86A4-8B46A1A0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AE2FB0-B671-4474-95A6-9DAA01F9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1630264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016752-4B05-42B9-81F6-0C60C12F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UNIFIED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2287F-3C12-44DD-A09A-FCE299EC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统一 2.5D 初边值条件与 AMR／热物理路线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846A1-FECE-4D5E-A6AD-6EBD635C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921A2-C43D-4172-989D-405CB4C8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0EC7D-F976-412E-A3FD-16BFA84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65722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F7317-4A54-4EAD-B239-BB408FF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B7A"/>
                </a:solidFill>
              </a:defRPr>
            </a:pPr>
            <a:r>
              <a:rPr sz="1275" b="1">
                <a:solidFill>
                  <a:srgbClr val="5B6B7A"/>
                </a:solidFill>
              </a:rPr>
              <a:t>y = 200 Mm · top diode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AA88C-BCB0-47B8-A7D7-593B31EE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614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394"/>
          </a:solidFill>
          <a:ln xmlns:a="http://schemas.openxmlformats.org/drawingml/2006/main" w="0">
            <a:solidFill>
              <a:srgbClr val="2A83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F736D-CE83-4DBE-9BB6-27507BAC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394"/>
                </a:solidFill>
              </a:defRPr>
            </a:pPr>
            <a:r>
              <a:rPr sz="1350" b="1">
                <a:solidFill>
                  <a:srgbClr val="2A8394"/>
                </a:solidFill>
              </a:rPr>
              <a:t>开放场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DC969-CEA0-4C09-BD70-7B139DA3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228600" cy="17621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B8D8D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C091C-31E7-4E67-B784-FAA16B6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86000"/>
            <a:ext cx="228600" cy="18764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7E1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E4054-6C99-4F21-ACD7-340C2029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28600" cy="19907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B8D8D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56F1-3F35-4FC5-85FD-B58590D8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228600" cy="21050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7E1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1DCDE-249C-40A7-9F30-6D1C78A5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28600" cy="22193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B8D8D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39AF7-0324-4CB5-BDB8-FDD01599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51B86-08DD-42B0-A579-B602135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X 点</a:t>
            </a:r>
          </a:p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≈ 20 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4841C-7C89-4E9A-B13E-7A9C6452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614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5B"/>
          </a:solidFill>
          <a:ln xmlns:a="http://schemas.openxmlformats.org/drawingml/2006/main" w="0">
            <a:solidFill>
              <a:srgbClr val="153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6D689-07ED-4730-BF69-524FFE77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line-tied bottom · 0–120 s relaxation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1C7EE-5B64-499C-871A-FA716BCC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19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B7A"/>
                </a:solidFill>
              </a:defRPr>
            </a:pPr>
            <a:r>
              <a:rPr sz="1350" b="0">
                <a:solidFill>
                  <a:srgbClr val="5B6B7A"/>
                </a:solidFill>
              </a:rPr>
              <a:t>x = −60…60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5310B-824A-40E8-A8E0-F2D4F846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3905250" cy="42100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72C7A-B90E-4D5E-BEA2-1A98D13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2841"/>
                </a:solidFill>
              </a:defRPr>
            </a:pPr>
            <a:r>
              <a:rPr sz="1950" b="1">
                <a:solidFill>
                  <a:srgbClr val="0E2841"/>
                </a:solidFill>
              </a:rPr>
              <a:t>共享参数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37729-BC0F-4AF0-8831-4A61972F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A8712-4F86-4350-A576-8EA9EB72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Tch = 2×10⁴ K；Tcor = 1.5 MK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FF0A3-05E5-4E93-AC2F-5F1DD13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43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B59D3-8B94-4344-9721-531907C7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B0 = 10 G；ne0 = 10⁹ cm⁻³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5394B-9E59-423B-89AD-87EE69AA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ACBD5-6337-4EDA-824A-22646AAA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Bz/B0 = 0.5；埋藏深度 5 Mm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297FB4-D21E-4DDC-BAC2-10F5DD8D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85182-F94A-4971-ADB3-59FD0938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静态 → 绝热驱动 → 场向导热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090E3A-3FB0-49AA-BA9E-0A3FFA3E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E1E9BB-945C-4A41-A713-0C45BA0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3390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AMR 只在独立后端启用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0E99A0-87D4-44E2-8509-D075FF4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62550"/>
            <a:ext cx="3190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B84D5-5F87-4A77-B342-B9402082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0175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本轮只运行 static smoke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43A7B-BF63-4394-8C12-585EA327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14CC79-26E2-466E-9A78-86207E8C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46C0E-DF08-488E-BF9C-137FF1EF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205884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E48FF-869F-457F-B888-3A07278F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HISTORICAL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8CBD8-9011-44A4-B3B3-443CD4AF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Athena v3 历史收敛证据仍是当前科学基线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E52C6-3699-48C4-B739-A24A1E58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C4366-62CC-4845-A58D-D3168E44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A18E7-6529-49C6-84D5-CAD972F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73152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6e79059254c6d"/>
          <a:stretch xmlns:a="http://schemas.openxmlformats.org/drawingml/2006/main"/>
        </p:blipFill>
        <p:spPr>
          <a:xfrm xmlns:a="http://schemas.openxmlformats.org/drawingml/2006/main">
            <a:off x="666750" y="1574006"/>
            <a:ext cx="7239000" cy="4071938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B0FA6-3943-4D1D-B875-F222DBEB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7C5BB-6136-4B2B-B234-33EB322B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历史 v3 · 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02EC6-45AA-49DA-B425-6C847E95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DB764-06B1-4A02-BB1D-6382E17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288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A"/>
                </a:solidFill>
              </a:defRPr>
            </a:pPr>
            <a:r>
              <a:rPr sz="1350" b="1">
                <a:solidFill>
                  <a:srgbClr val="5B6B7A"/>
                </a:solidFill>
              </a:rPr>
              <a:t>CT 无散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75411-4C88-49C9-B25C-B6336D7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2841"/>
                </a:solidFill>
              </a:defRPr>
            </a:pPr>
            <a:r>
              <a:rPr sz="2025" b="1">
                <a:solidFill>
                  <a:srgbClr val="0E2841"/>
                </a:solidFill>
              </a:rPr>
              <a:t>6.63×10⁻¹⁴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1582E-7804-40A9-9338-EB32C23C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56AE9-EF8C-4807-B631-E4FEF082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A"/>
                </a:solidFill>
              </a:defRPr>
            </a:pPr>
            <a:r>
              <a:rPr sz="1350" b="1">
                <a:solidFill>
                  <a:srgbClr val="5B6B7A"/>
                </a:solidFill>
              </a:rPr>
              <a:t>能量漂移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F26FD-3B06-4E8F-89CB-C451BA2A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2841"/>
                </a:solidFill>
              </a:defRPr>
            </a:pPr>
            <a:r>
              <a:rPr sz="2025" b="1">
                <a:solidFill>
                  <a:srgbClr val="0E2841"/>
                </a:solidFill>
              </a:rPr>
              <a:t>+1.53×10⁻⁸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C1C15-BD49-4CF5-8935-6686C440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B4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33C5A-7EB7-4B42-A41D-ABB3404C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A"/>
                </a:solidFill>
              </a:defRPr>
            </a:pPr>
            <a:r>
              <a:rPr sz="1350" b="1">
                <a:solidFill>
                  <a:srgbClr val="5B6B7A"/>
                </a:solidFill>
              </a:rPr>
              <a:t>收敛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01FBB-1C33-40A0-AF71-7477BF47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67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2841"/>
                </a:solidFill>
              </a:defRPr>
            </a:pPr>
            <a:r>
              <a:rPr sz="2025" b="1">
                <a:solidFill>
                  <a:srgbClr val="0E2841"/>
                </a:solidFill>
              </a:rPr>
              <a:t>512→1024 &lt; 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42ECF-CDC4-4571-AC5B-C7F65A6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81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注意：这些数字来自历史双 Harris v3，不代表本轮 solar-jet smoke。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1B76E-01B2-4C2C-85B0-1E74DD0D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80046-F9D6-4BF9-B01D-743C775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819FF-E1BA-41C3-B21A-F43590B8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51987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DE861-D57F-4438-B535-4B2D87B2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4A56A-9C45-463D-AA33-21F208A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局部 exhaust 与全局 jet：必须分别诊断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4BEC2-2270-497A-AC78-DD2C36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5C77D-AC0E-4F82-95D5-E2C5653F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00FCF-5074-473E-A665-15D35DFF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53149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ae949080b49f9"/>
          <a:stretch xmlns:a="http://schemas.openxmlformats.org/drawingml/2006/main"/>
        </p:blipFill>
        <p:spPr>
          <a:xfrm xmlns:a="http://schemas.openxmlformats.org/drawingml/2006/main">
            <a:off x="666750" y="1774627"/>
            <a:ext cx="5238750" cy="2946797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D178B-7A32-416D-80B2-9A9EAD3B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43050"/>
            <a:ext cx="53149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4031b7fd347a3"/>
          <a:stretch xmlns:a="http://schemas.openxmlformats.org/drawingml/2006/main"/>
        </p:blipFill>
        <p:spPr>
          <a:xfrm xmlns:a="http://schemas.openxmlformats.org/drawingml/2006/main">
            <a:off x="6286500" y="1774627"/>
            <a:ext cx="5238750" cy="2946797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81B1A-7BEA-4520-9AC2-5233C375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2333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8DDB8-19C2-4519-A5AD-2BB931CE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历史 v3：局地双向 jet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A39E5-B365-4265-A7D0-A743ACBC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B4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B8E46-FFAD-4FFB-9BFE-0BDC2763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1040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2841"/>
                </a:solidFill>
              </a:defRPr>
            </a:pPr>
            <a:r>
              <a:rPr sz="1575" b="1">
                <a:solidFill>
                  <a:srgbClr val="0E2841"/>
                </a:solidFill>
              </a:rPr>
              <a:t>vbi = min[P95(vout&gt;0), P95(−vout&lt;0)]    |    vglobal = P95(vvertical&gt;0 in Ωopen)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F4BE5-E9FC-427B-A842-68FACF3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394"/>
                </a:solidFill>
              </a:defRPr>
            </a:pPr>
            <a:r>
              <a:rPr sz="1350" b="1">
                <a:solidFill>
                  <a:srgbClr val="2A8394"/>
                </a:solidFill>
              </a:rPr>
              <a:t>开放场联合活动：qJ = min(qlocal, qglobal)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ED589-5967-452F-86DD-C22B4AFC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2A314-FEFF-4245-8989-4C2B95FD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0E1FC-67E8-40EB-AB12-1EA4BA3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1288137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0C628-7272-4F7E-A518-03474E2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RADIO CONDITIONING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A6C9C-1F38-4674-87C8-18CFC28C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联合条件采样与时间标定：不满足就 no_event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DC522-F224-46B2-A575-9714DAE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DBB5B-CD0E-45A3-A76C-2949EE5F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AE474-736C-4933-841B-5AE27653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73152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759c437554243"/>
          <a:stretch xmlns:a="http://schemas.openxmlformats.org/drawingml/2006/main"/>
        </p:blipFill>
        <p:spPr>
          <a:xfrm xmlns:a="http://schemas.openxmlformats.org/drawingml/2006/main">
            <a:off x="899583" y="1581150"/>
            <a:ext cx="6773333" cy="38100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6C898-B3C2-49D1-80D9-1B0A4755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BB92C-F160-4B5F-B942-61A5B0C8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历史 v3 时间线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DD100-CA76-43B7-BAE0-FC9617D1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80043-8BC7-43DF-BEF1-128CE20B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841"/>
                </a:solidFill>
              </a:defRPr>
            </a:pPr>
            <a:r>
              <a:rPr sz="1575" b="1">
                <a:solidFill>
                  <a:srgbClr val="0E2841"/>
                </a:solidFill>
              </a:rPr>
              <a:t>联合权重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8A496-6687-4FEA-917D-6EAF894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A8394"/>
                </a:solidFill>
              </a:defRPr>
            </a:pPr>
            <a:r>
              <a:rPr sz="1875" b="1">
                <a:solidFill>
                  <a:srgbClr val="2A8394"/>
                </a:solidFill>
              </a:rPr>
              <a:t>qjoint(t) = qJ(t) qR(t)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22B7C-B1CA-4E1A-91EB-ECEF7211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2385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5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EF097-ADDA-4BC4-9CBE-D61BBB9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严格规则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F588F-6038-4024-BD8F-1587EC34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67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43E2B-5BCF-4FA6-ACA3-7FE0C827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qJ ≥ 0.6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7FA82-60EC-4F00-9DA5-A1E0FB5D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B2D97-08F2-417A-8771-97D6B29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053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qR ≥ 0.6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58004-2FC2-458B-B364-A46FF65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76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7C3C0-FD82-4B24-80DE-997467C1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01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连续 3 个输出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284A6-1750-42CD-9D88-3EC6C07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81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D6895-F02B-4595-AA72-4658190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无候选 → (0,5) 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91FA2-9F97-49DA-86C3-61D45DC6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7F1F4-09F5-4317-A295-C892D9F5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197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不降低阈值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3DC94-E879-4490-B7CA-FDFA572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proxy 时间压缩只服务 onset 条件采样，不等同于观测绝对时间。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A71D0-E000-4381-9B88-889EA8EF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5CE65-2CDF-4888-BE7E-0110996D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CBCDE-10C6-454F-AE0B-6EDDAD71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119386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EB112-F3E8-4914-BB80-F1D30034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HISTORICAL RADIO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8DC58-4244-4A42-9720-97AE9CC3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严格 topping 动态谱：只引用历史 Athena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2DEE2-EABE-4B45-B8B5-23DAE5C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9EE05-BD13-4C06-AA41-938EACF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147A3-9B2C-4112-BFB1-CA956731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677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23c4860f846a0"/>
          <a:stretch xmlns:a="http://schemas.openxmlformats.org/drawingml/2006/main"/>
        </p:blipFill>
        <p:spPr>
          <a:xfrm xmlns:a="http://schemas.openxmlformats.org/drawingml/2006/main">
            <a:off x="783167" y="1504950"/>
            <a:ext cx="7958667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37F6C-1455-4AFD-92B3-BEEE2A9C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8F50B-5362-4A80-A2B6-C517A04F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04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历史 v3 · 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6D840-A506-471F-9DC0-952A7F8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5E43D-AD31-41BC-AEBB-DA8CAAE4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02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2841"/>
                </a:solidFill>
              </a:defRPr>
            </a:pPr>
            <a:r>
              <a:rPr sz="2325" b="1">
                <a:solidFill>
                  <a:srgbClr val="0E2841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A5B1C-8036-408F-85C8-F212529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A"/>
                </a:solidFill>
              </a:defRPr>
            </a:pPr>
            <a:r>
              <a:rPr sz="1200" b="0">
                <a:solidFill>
                  <a:srgbClr val="5B6B7A"/>
                </a:solidFill>
              </a:rPr>
              <a:t>严格 topping 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BC988-4A40-4684-AB38-88D7B67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98F6A-D8F6-49B7-ADBF-D5A8E5B3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527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2841"/>
                </a:solidFill>
              </a:defRPr>
            </a:pPr>
            <a:r>
              <a:rPr sz="2325" b="1">
                <a:solidFill>
                  <a:srgbClr val="0E2841"/>
                </a:solidFill>
              </a:rPr>
              <a:t>7.619 MHz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28880-0AE4-44F8-BF6A-20290B04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A"/>
                </a:solidFill>
              </a:defRPr>
            </a:pPr>
            <a:r>
              <a:rPr sz="1200" b="0">
                <a:solidFill>
                  <a:srgbClr val="5B6B7A"/>
                </a:solidFill>
              </a:rPr>
              <a:t>最小 Δf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82196-1D3F-41B6-9F81-C0234573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6245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F128D-6D9F-4B90-9A05-E5B928E6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053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7A52"/>
                </a:solidFill>
              </a:defRPr>
            </a:pPr>
            <a:r>
              <a:rPr sz="2325" b="1">
                <a:solidFill>
                  <a:srgbClr val="247A52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034EB-B094-461C-92C6-A769745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01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A"/>
                </a:solidFill>
              </a:defRPr>
            </a:pPr>
            <a:r>
              <a:rPr sz="1200" b="0">
                <a:solidFill>
                  <a:srgbClr val="5B6B7A"/>
                </a:solidFill>
              </a:rPr>
              <a:t>Cjet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DF857-DF0A-40F1-AF11-5AF93E4E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8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本轮 AMRVAC smoke 不产生或更新射电结果。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CAF13-88B7-4DF9-8740-3919F96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4E25D-7419-44BE-9005-4AF5814A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2B774-4546-472D-9DAF-CBF890D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120669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507E73-AD71-4F7F-97D7-B145110D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DEVELOPMENT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C85B5-1C72-452D-B706-8DBE24EC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本轮状态：链路打通，但静态物理验收失败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14E48-9DA2-4250-923C-E940D95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06F42-343B-44D5-8D33-EC7CC85C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05BA0-3C80-410F-8C95-BDCD64D7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E2841"/>
          </a:solidFill>
          <a:ln xmlns:a="http://schemas.openxmlformats.org/drawingml/2006/main" w="9525">
            <a:solidFill>
              <a:srgbClr val="0E28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C6F05-CE9D-4ECF-8C77-E25ACDC8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63C3B-390C-457F-9500-D0307610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240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Athena 4.2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B2D34-6CAC-48E5-BEFB-2A4554A8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24025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AMRVAC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CA154-7B15-4308-A9F4-589CC23C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724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判定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35F61-7FD2-43A0-87DF-6DDCC7A8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0858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B5AEA-546C-4E20-9064-A6D343CA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构建 / 原生输出 / schema v5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5B70A-4F93-4E6B-88A3-AF456B9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76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A52"/>
                </a:solidFill>
              </a:defRPr>
            </a:pPr>
            <a:r>
              <a:rPr sz="1350" b="1">
                <a:solidFill>
                  <a:srgbClr val="247A52"/>
                </a:solidFill>
              </a:rPr>
              <a:t>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0BB5F-4D5A-4AC9-8ABD-E817BF4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764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A52"/>
                </a:solidFill>
              </a:defRPr>
            </a:pPr>
            <a:r>
              <a:rPr sz="1350" b="1">
                <a:solidFill>
                  <a:srgbClr val="247A52"/>
                </a:solidFill>
              </a:rPr>
              <a:t>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A7DA0-883B-47CC-A81C-304576A3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479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A0D6C-C19C-4889-9502-27345870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95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88DD-5634-4A41-B4F8-600B5C8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6E268-B742-449D-8062-D087C1B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ρ &gt; 0，p &gt;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9859E-E646-416D-854B-DDE31D6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A52"/>
                </a:solidFill>
              </a:defRPr>
            </a:pPr>
            <a:r>
              <a:rPr sz="1350" b="1">
                <a:solidFill>
                  <a:srgbClr val="247A52"/>
                </a:solidFill>
              </a:rPr>
              <a:t>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6685C-317D-4F79-BFC5-CC054D5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479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A52"/>
                </a:solidFill>
              </a:defRPr>
            </a:pPr>
            <a:r>
              <a:rPr sz="1350" b="1">
                <a:solidFill>
                  <a:srgbClr val="247A52"/>
                </a:solidFill>
              </a:rPr>
              <a:t>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03D0E-4FBE-4C1F-B86C-8DCA394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194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E9F6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74AA2-7050-410B-A3FB-06710CC8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67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A52"/>
                </a:solidFill>
              </a:defRPr>
            </a:pPr>
            <a:r>
              <a:rPr sz="1200" b="1">
                <a:solidFill>
                  <a:srgbClr val="247A52"/>
                </a:solidFill>
              </a:rPr>
              <a:t>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BAEBE-2EA1-425C-9F0E-EF31F7A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858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9261FD-9FE7-4122-9905-FACFF8A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归一化 divB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F9A1E-9B43-4D32-977A-FFD973B8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19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2.10×10⁻¹⁵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DC5AE-3699-4340-B1DD-1EEE810D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194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2.16×10⁻²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D6ACC-920F-40CB-8279-3AD2192F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909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A0A8B-C862-493B-9D8F-F3125AAE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38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未通过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777CD-7BC7-449C-AC67-34C4DD16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0858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C8EF2-8CC5-439F-AAE3-1439516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无驱动 max Mach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B821D-1A6A-4D73-B251-45CBDE04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90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0.1074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ED8C2-F457-4B3E-BFCA-AE90D6B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909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0.1204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7E154-F647-430A-AEAD-BAA8AE3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624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F9623-3F13-443A-A088-1234218D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0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未通过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53AB0-CD23-4D78-920B-57B0BD4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858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D4DEE0-8148-4E46-BAB3-BE514A3F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restart &lt; 10⁻⁸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6D0627-A3CD-4719-9579-195947F6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62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2.24×10⁻⁵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7EB44-E048-4565-9092-42382521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未执行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676E96-4759-4FDE-B7BA-E21949F9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339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E798C2-EFF8-4B19-9690-BB91891C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81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未通过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AC94C6-7624-4DD1-8894-5D3790E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6AAA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79C54F-6AA4-4922-85E3-1103616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</a:defRPr>
            </a:pPr>
            <a:r>
              <a:rPr sz="1575" b="1">
                <a:solidFill>
                  <a:srgbClr val="B42318"/>
                </a:solidFill>
              </a:rPr>
              <a:t>停止条件已触发：先修 well-balanced 静态基准、AMRVAC 无散与 restart，再进入驱动／热传导／600 s。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2B0D3C-B9F6-47A2-BB16-D967FBD2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FFF435-EACC-40B5-8FD4-DC14CE6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3C3564-BEA6-4646-8A34-5C483814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1740251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892CC-418E-4283-916B-A186EE47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CEC55-3511-4951-8B5A-BAD7D770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环境、CLI 与数据流：Mac 已实测，WSL2 待实测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A70C9-3B29-4D88-BE0B-B228E3A3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7CFEF-0AB3-4EBD-BBAD-F125304B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A3210-38F2-4D13-A35A-91C02B47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429000" cy="43243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F2AB3-7E67-4416-94B0-1902861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2841"/>
                </a:solidFill>
              </a:defRPr>
            </a:pPr>
            <a:r>
              <a:rPr sz="1950" b="1">
                <a:solidFill>
                  <a:srgbClr val="0E2841"/>
                </a:solidFill>
              </a:rPr>
              <a:t>最小环境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19216-AB32-4E30-AF8B-0BD7D96E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9337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Python 3.14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numpy · scipy · matplotlib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h5py · pyvista · vtk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imageio · ffmpeg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pytest · ruff · openmpi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Mac：Miniforge + Clang + gfortran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WSL2：Linux FS + build-essential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RTX 4060：仅视频编码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A986A-78E6-44BD-9A62-7ED99200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71437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E2841"/>
          </a:solidFill>
          <a:ln xmlns:a="http://schemas.openxmlformats.org/drawingml/2006/main" w="9525">
            <a:solidFill>
              <a:srgbClr val="0E28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404EB-FBE2-4E0E-BFCD-85D0A642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D5DE"/>
                </a:solidFill>
              </a:defRPr>
            </a:pPr>
            <a:r>
              <a:rPr sz="1350" b="1">
                <a:solidFill>
                  <a:srgbClr val="91D5DE"/>
                </a:solidFill>
              </a:rPr>
              <a:t>CLI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306E-87C4-45EB-975F-D3CFFEE5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python -m spike_typeIII_visual.athena build --jobs 4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python -m spike_typeIII_visual.amrvac build --jobs 4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python -m spike_typeIII_visual.amrvac ingest --run-dir Local/... --output bridge.h5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python -m spike_typeIII_visual.main --mhd-backend amrvac --mhd-dataset bridge.h5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7DBAD-B738-4F1D-8132-86B328B1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33270-A74B-45C1-B5B3-4188F9B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9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3B5B"/>
                </a:solidFill>
              </a:defRPr>
            </a:pPr>
            <a:r>
              <a:rPr sz="1275" b="1">
                <a:solidFill>
                  <a:srgbClr val="153B5B"/>
                </a:solidFill>
              </a:rPr>
              <a:t>BIN / DAT-v5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C0DF2-07C9-45AC-A2C6-C7BCEDD6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91000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38486-0B06-4E17-8288-B25A94F5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624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839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FE3CF-2F23-4984-A46E-2B0CE533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19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A8394"/>
                </a:solidFill>
              </a:defRPr>
            </a:pPr>
            <a:r>
              <a:rPr sz="1275" b="1">
                <a:solidFill>
                  <a:srgbClr val="2A8394"/>
                </a:solidFill>
              </a:rPr>
              <a:t>ingest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BB8D0-A183-4A10-ADFC-22607B03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91000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8A555-200C-424F-A798-864FD416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C0CAF-E1FF-49B8-A775-7003A976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9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schema v5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5C437-3C9C-4F05-896D-DFD6A0A4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76F54-03D1-4E91-9E50-E1A30D2A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624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A5A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B852C-1954-47E5-95F9-9752FAF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9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A5AA6"/>
                </a:solidFill>
              </a:defRPr>
            </a:pPr>
            <a:r>
              <a:rPr sz="1275" b="1">
                <a:solidFill>
                  <a:srgbClr val="7A5AA6"/>
                </a:solidFill>
              </a:rPr>
              <a:t>jet + radio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77607-832E-4E14-85D2-5899462F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191000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11CFD-C218-4377-A605-C54A30EC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624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82239-E4D9-403C-A398-CB4DB0F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19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52"/>
                </a:solidFill>
              </a:defRPr>
            </a:pPr>
            <a:r>
              <a:rPr sz="1275" b="1">
                <a:solidFill>
                  <a:srgbClr val="247A52"/>
                </a:solidFill>
              </a:rPr>
              <a:t>validator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F2DDA-E23B-4556-8994-8D697B54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7143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5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5552A-CD9E-4B15-A7AE-B7FD3A07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53050"/>
            <a:ext cx="668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</a:defRPr>
            </a:pPr>
            <a:r>
              <a:rPr sz="1500" b="1">
                <a:solidFill>
                  <a:srgbClr val="0E2841"/>
                </a:solidFill>
              </a:rPr>
              <a:t>原始数据与日志只留 Local/；公开 metadata 不写用户名、主机、IP 或绝对路径。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08F9F-DDAC-4302-8FEE-F5B3D40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5A7EF0-B2A6-4D9E-8459-F6A02CEC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2E14B-A5A2-4983-BA36-0BF6195C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122920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EBC458-D1E9-434A-89FE-14D9C148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8394"/>
                </a:solidFill>
              </a:defRPr>
            </a:pPr>
            <a:r>
              <a:rPr sz="1050" b="1">
                <a:solidFill>
                  <a:srgbClr val="2A8394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A6E9B-49B6-4D12-A813-5CF1C460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公式—源码—证据：教师追问时可回到哪一层？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359E4-035E-4DEC-B562-1224CBF9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AFCC5-D0B0-4144-BDED-EC75A19C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B7A"/>
                </a:solidFill>
              </a:defRPr>
            </a:pPr>
            <a:r>
              <a:rPr sz="1125" b="1">
                <a:solidFill>
                  <a:srgbClr val="5B6B7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EA9C8-01A0-4BC9-B7F1-D4BD652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2841"/>
          </a:solidFill>
          <a:ln xmlns:a="http://schemas.openxmlformats.org/drawingml/2006/main" w="9525">
            <a:solidFill>
              <a:srgbClr val="0E28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5F42D-B404-442B-905B-8DF3F56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2515B-F7FC-4E37-A9B2-F89ABF00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4782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公式 / 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60161-40F1-4241-8B81-6571CB8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478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84AF5-0E66-4B66-B1E7-08AD1DAC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478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EA878-A273-4DED-BC20-CCCDEAD3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ED1E5-0983-4AC4-B105-5AFECE0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</a:defRPr>
            </a:pPr>
            <a:r>
              <a:rPr sz="1275" b="1">
                <a:solidFill>
                  <a:srgbClr val="0E2841"/>
                </a:solidFill>
              </a:rPr>
              <a:t>静水平衡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BC6EE-302C-4871-9595-F74D0DAD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p=p₀ exp{−g[F(y)−F(0)]}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7D7B8-3104-4325-966B-C2D9EF9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solar_jet.c / mod_usr.t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E879B-84C8-405C-9FCB-F540827F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积分误差 &lt;10⁻¹²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0C35D-D9C6-4BF2-AAFC-C6D51319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08585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E36C5-3DD1-4DC2-A6ED-A3910EB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</a:defRPr>
            </a:pPr>
            <a:r>
              <a:rPr sz="1275" b="1">
                <a:solidFill>
                  <a:srgbClr val="0E2841"/>
                </a:solidFill>
              </a:rPr>
              <a:t>2.5D 能量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B541D-7E7D-4249-A79D-B1F12CD3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m₁…m₃，b₁…b₃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E3E77-ADD5-4D95-BF48-D0A9ECA2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amrvac_io.py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74A50-4997-402F-85A1-D6B37D8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DAT / VTU 交叉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B5389-1C9B-4C4E-B57F-C7D0AD33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C2504-D7D2-483D-845E-2884535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</a:defRPr>
            </a:pPr>
            <a:r>
              <a:rPr sz="1275" b="1">
                <a:solidFill>
                  <a:srgbClr val="0E2841"/>
                </a:solidFill>
              </a:rPr>
              <a:t>AMR 投影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3A3D9-3D28-4B12-9635-EC385A9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体积守恒分片常数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3D69D-4572-4DA4-BBE4-4E472015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project_dat_to_uniform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2F076-32C0-46AB-8E06-D1C5F43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coverage =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6D677-2803-4B2E-BA68-340646E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8585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BBFEB-DC5B-427C-8954-6E3AB8D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</a:defRPr>
            </a:pPr>
            <a:r>
              <a:rPr sz="1275" b="1">
                <a:solidFill>
                  <a:srgbClr val="0E2841"/>
                </a:solidFill>
              </a:rPr>
              <a:t>jet 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D821C-7E73-41A9-99EF-89866D9E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qJ=min(qlocal,qglobal)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4DDDF-35E3-4575-BC0E-1474B51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physics/jet.py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E7D84-EEAF-430C-8C50-1674E9D4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活动数组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DE1647-0FE7-401D-ACE4-C011488D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8585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3A0AE-819C-47B5-92A4-3DAAE1BE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</a:defRPr>
            </a:pPr>
            <a:r>
              <a:rPr sz="1275" b="1">
                <a:solidFill>
                  <a:srgbClr val="0E2841"/>
                </a:solidFill>
              </a:rPr>
              <a:t>数据契约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3D426-F0FE-4729-AFE6-3A326C4F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schema v5 + provenance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13357-C397-4327-A310-F5EDA37D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athena_io.py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379AE8-5684-4092-BAB5-3394BB1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33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38 pytest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CF4E81-C7BA-4EC5-BE29-D7C22FB4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B4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F2184B-02A9-4036-8094-86EA075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参考：Stone et al. 2008 (Athena) · MPI-AMRVAC 官方文档 · 陈耀 2019《等离子体物理学基础》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8EEBB3-70D3-43B2-87AD-C911141E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当前可信结论：双后端软件链路已建立；solar-jet 静态物理基准仍需修复。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17EAB5-4932-4A88-B1AB-90714CF5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solidFill>
              <a:srgbClr val="C7D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BF0AB-68E9-4650-9D44-0A30943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</a:defRPr>
            </a:pPr>
            <a:r>
              <a:rPr sz="825" b="0">
                <a:solidFill>
                  <a:srgbClr val="5B6B7A"/>
                </a:solidFill>
              </a:rPr>
              <a:t>Spike-Topping Type III · Athena 4.2 + MPI-AMRVAC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77A547-0394-47B9-9D9A-4028E228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开发验证，不代表长时科学结果</a:t>
            </a:r>
          </a:p>
        </p:txBody>
      </p:sp>
    </p:spTree>
    <p:extLst>
      <p:ext uri="{BB962C8B-B14F-4D97-AF65-F5344CB8AC3E}">
        <p14:creationId xmlns:p14="http://schemas.microsoft.com/office/powerpoint/2010/main" val="767778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2026-07-28T10:09:16.4970000Z</dcterms:created>
  <dcterms:modified xsi:type="dcterms:W3CDTF">2026-07-28T10:09:16.4970000Z</dcterms:modified>
</coreProperties>
</file>